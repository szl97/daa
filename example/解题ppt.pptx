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1"/>
  </p:handoutMasterIdLst>
  <p:sldIdLst>
    <p:sldId id="256" r:id="rId3"/>
    <p:sldId id="575" r:id="rId4"/>
    <p:sldId id="576" r:id="rId6"/>
    <p:sldId id="585" r:id="rId7"/>
    <p:sldId id="586" r:id="rId8"/>
    <p:sldId id="587" r:id="rId9"/>
    <p:sldId id="588" r:id="rId10"/>
    <p:sldId id="589" r:id="rId11"/>
    <p:sldId id="590" r:id="rId12"/>
    <p:sldId id="591" r:id="rId13"/>
    <p:sldId id="592" r:id="rId14"/>
    <p:sldId id="593" r:id="rId15"/>
    <p:sldId id="594" r:id="rId16"/>
    <p:sldId id="595" r:id="rId17"/>
    <p:sldId id="596" r:id="rId18"/>
    <p:sldId id="597" r:id="rId19"/>
    <p:sldId id="598" r:id="rId20"/>
    <p:sldId id="599" r:id="rId21"/>
    <p:sldId id="600" r:id="rId22"/>
    <p:sldId id="601" r:id="rId23"/>
    <p:sldId id="602" r:id="rId24"/>
    <p:sldId id="604" r:id="rId25"/>
    <p:sldId id="605" r:id="rId26"/>
    <p:sldId id="603" r:id="rId27"/>
    <p:sldId id="608" r:id="rId28"/>
    <p:sldId id="611" r:id="rId29"/>
    <p:sldId id="612" r:id="rId30"/>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cl" initials="a" lastIdx="1" clrIdx="0"/>
  <p:cmAuthor id="7" name="微软用户" initials="微" lastIdx="0" clrIdx="0"/>
  <p:cmAuthor id="1" name="未知用户1" initials="未知用户1" lastIdx="3" clrIdx="0"/>
  <p:cmAuthor id="8" name="PC" initials="P" lastIdx="1" clrIdx="1"/>
  <p:cmAuthor id="2" name="qiuzhuo" initials="q" lastIdx="1" clrIdx="1"/>
  <p:cmAuthor id="9" name="windows10" initials="w" lastIdx="2" clrIdx="8"/>
  <p:cmAuthor id="10" name="wei.xin" initials="w" lastIdx="2" clrIdx="9"/>
  <p:cmAuthor id="4" name="appleminy@outlook.com" initials="a" lastIdx="1" clrIdx="0"/>
  <p:cmAuthor id="11" name="范颖捷" initials="Fanyj" lastIdx="21" clrIdx="10"/>
  <p:cmAuthor id="5" name="zhiwu yin" initials="z" lastIdx="1" clrIdx="0"/>
  <p:cmAuthor id="6" name="Yuanhao" initials="Y" lastIdx="1" clrIdx="1"/>
  <p:cmAuthor id="3" name="赵王星" initials="赵王星" lastIdx="1" clrIdx="2"/>
  <p:cmAuthor id="12" name="user" initials="u" lastIdx="3" clrIdx="25"/>
  <p:cmAuthor id="13" name="think" initials="t" lastIdx="1" clrIdx="6"/>
  <p:cmAuthor id="14" name="许立新" initials="许" lastIdx="1" clrIdx="7"/>
  <p:cmAuthor id="15" name="d stefan" initials="ds" lastIdx="1" clrIdx="8"/>
  <p:cmAuthor id="16" name="mianyujing" initials="m" lastIdx="1" clrIdx="15"/>
  <p:cmAuthor id="77" name="石佳鑫" initials="u" lastIdx="1" clrIdx="26"/>
  <p:cmAuthor id="19" name="外运创科总收发" initials="安可婷" lastIdx="1" clrIdx="18"/>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6" Type="http://schemas.openxmlformats.org/officeDocument/2006/relationships/tags" Target="tags/tag30.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a:ln>
            <a:miter lim="800000"/>
          </a:ln>
        </p:spPr>
      </p:sp>
      <p:sp>
        <p:nvSpPr>
          <p:cNvPr id="18435" name="Rectangle 3"/>
          <p:cNvSpPr>
            <a:spLocks noGrp="1"/>
          </p:cNvSpPr>
          <p:nvPr>
            <p:ph type="body"/>
          </p:nvPr>
        </p:nvSpPr>
        <p:spPr/>
        <p:txBody>
          <a:bodyPr wrap="square" lIns="91440" tIns="45720" rIns="91440" bIns="45720" anchor="t"/>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5.svg"/><Relationship Id="rId4" Type="http://schemas.openxmlformats.org/officeDocument/2006/relationships/image" Target="../media/image4.png"/><Relationship Id="rId34" Type="http://schemas.openxmlformats.org/officeDocument/2006/relationships/notesSlide" Target="../notesSlides/notesSlide2.xml"/><Relationship Id="rId33" Type="http://schemas.openxmlformats.org/officeDocument/2006/relationships/slideLayout" Target="../slideLayouts/slideLayout7.xml"/><Relationship Id="rId32" Type="http://schemas.openxmlformats.org/officeDocument/2006/relationships/tags" Target="../tags/tag27.xml"/><Relationship Id="rId31" Type="http://schemas.openxmlformats.org/officeDocument/2006/relationships/tags" Target="../tags/tag26.xml"/><Relationship Id="rId30" Type="http://schemas.openxmlformats.org/officeDocument/2006/relationships/tags" Target="../tags/tag25.xml"/><Relationship Id="rId3" Type="http://schemas.openxmlformats.org/officeDocument/2006/relationships/tags" Target="../tags/tag3.xml"/><Relationship Id="rId29" Type="http://schemas.openxmlformats.org/officeDocument/2006/relationships/image" Target="../media/image8.png"/><Relationship Id="rId28" Type="http://schemas.openxmlformats.org/officeDocument/2006/relationships/tags" Target="../tags/tag24.xml"/><Relationship Id="rId27" Type="http://schemas.openxmlformats.org/officeDocument/2006/relationships/tags" Target="../tags/tag23.xml"/><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tags" Target="../tags/tag20.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image" Target="../media/image3.png"/><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tags" Target="../tags/tag29.xml"/><Relationship Id="rId2" Type="http://schemas.openxmlformats.org/officeDocument/2006/relationships/image" Target="../media/image14.png"/><Relationship Id="rId1" Type="http://schemas.openxmlformats.org/officeDocument/2006/relationships/tags" Target="../tags/tag2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图片 7" descr="北航lOGO.png"/>
          <p:cNvPicPr>
            <a:picLocks noChangeAspect="1"/>
          </p:cNvPicPr>
          <p:nvPr/>
        </p:nvPicPr>
        <p:blipFill>
          <a:blip r:embed="rId1" cstate="print"/>
          <a:srcRect/>
          <a:stretch>
            <a:fillRect/>
          </a:stretch>
        </p:blipFill>
        <p:spPr bwMode="auto">
          <a:xfrm>
            <a:off x="239184" y="548217"/>
            <a:ext cx="4559300" cy="863600"/>
          </a:xfrm>
          <a:prstGeom prst="rect">
            <a:avLst/>
          </a:prstGeom>
          <a:noFill/>
          <a:ln w="9525">
            <a:noFill/>
            <a:miter lim="800000"/>
            <a:headEnd/>
            <a:tailEnd/>
          </a:ln>
        </p:spPr>
      </p:pic>
      <p:sp>
        <p:nvSpPr>
          <p:cNvPr id="6" name="Rectangle 12"/>
          <p:cNvSpPr>
            <a:spLocks noChangeArrowheads="1"/>
          </p:cNvSpPr>
          <p:nvPr/>
        </p:nvSpPr>
        <p:spPr bwMode="auto">
          <a:xfrm>
            <a:off x="1102784" y="1531197"/>
            <a:ext cx="10001249" cy="2688167"/>
          </a:xfrm>
          <a:prstGeom prst="rect">
            <a:avLst/>
          </a:prstGeom>
          <a:noFill/>
          <a:ln w="9525">
            <a:noFill/>
            <a:miter lim="800000"/>
          </a:ln>
        </p:spPr>
        <p:txBody>
          <a:bodyPr anchor="ctr"/>
          <a:lstStyle/>
          <a:p>
            <a:pPr marL="142875" algn="ctr">
              <a:spcBef>
                <a:spcPts val="1200"/>
              </a:spcBef>
              <a:defRPr/>
            </a:pPr>
            <a:r>
              <a:rPr lang="zh-CN" altLang="en-US" sz="5330" b="1" dirty="0">
                <a:solidFill>
                  <a:srgbClr val="FF0000"/>
                </a:solidFill>
                <a:latin typeface="微软雅黑" panose="020B0503020204020204" charset="-122"/>
                <a:ea typeface="微软雅黑" panose="020B0503020204020204" charset="-122"/>
                <a:sym typeface="+mn-ea"/>
              </a:rPr>
              <a:t>语言模型数学推理</a:t>
            </a:r>
            <a:endParaRPr lang="zh-CN" altLang="en-US">
              <a:latin typeface="微软雅黑" panose="020B0503020204020204" charset="-122"/>
              <a:ea typeface="微软雅黑" panose="020B0503020204020204" charset="-122"/>
              <a:sym typeface="+mn-ea"/>
            </a:endParaRPr>
          </a:p>
        </p:txBody>
      </p:sp>
      <p:sp>
        <p:nvSpPr>
          <p:cNvPr id="2051" name="TextBox 8"/>
          <p:cNvSpPr txBox="1">
            <a:spLocks noChangeArrowheads="1"/>
          </p:cNvSpPr>
          <p:nvPr/>
        </p:nvSpPr>
        <p:spPr bwMode="auto">
          <a:xfrm>
            <a:off x="1421130" y="4949175"/>
            <a:ext cx="9144000" cy="953135"/>
          </a:xfrm>
          <a:prstGeom prst="rect">
            <a:avLst/>
          </a:prstGeom>
          <a:noFill/>
          <a:ln w="9525">
            <a:noFill/>
            <a:miter lim="800000"/>
          </a:ln>
        </p:spPr>
        <p:txBody>
          <a:bodyPr>
            <a:spAutoFit/>
          </a:bodyPr>
          <a:p>
            <a:pPr algn="ctr"/>
            <a:endParaRPr lang="en-US" altLang="zh-CN" sz="2800" dirty="0">
              <a:latin typeface="黑体" panose="02010609060101010101" pitchFamily="49" charset="-122"/>
              <a:ea typeface="黑体" panose="02010609060101010101" pitchFamily="49" charset="-122"/>
            </a:endParaRPr>
          </a:p>
          <a:p>
            <a:pPr algn="ctr"/>
            <a:r>
              <a:rPr lang="en-US" altLang="zh-CN" sz="2800" dirty="0">
                <a:latin typeface="黑体" panose="02010609060101010101" pitchFamily="49" charset="-122"/>
                <a:ea typeface="黑体" panose="02010609060101010101" pitchFamily="49" charset="-122"/>
              </a:rPr>
              <a:t>2025</a:t>
            </a:r>
            <a:r>
              <a:rPr lang="zh-CN" altLang="en-US" sz="2800" dirty="0">
                <a:latin typeface="黑体" panose="02010609060101010101" pitchFamily="49" charset="-122"/>
                <a:ea typeface="黑体" panose="02010609060101010101" pitchFamily="49" charset="-122"/>
              </a:rPr>
              <a:t>年</a:t>
            </a:r>
            <a:r>
              <a:rPr lang="zh-CN" altLang="en-US" sz="2800" dirty="0">
                <a:solidFill>
                  <a:schemeClr val="tx1"/>
                </a:solidFill>
                <a:latin typeface="黑体" charset="0"/>
                <a:ea typeface="黑体" charset="0"/>
              </a:rPr>
              <a:t>1</a:t>
            </a:r>
            <a:r>
              <a:rPr lang="en-US" altLang="zh-CN" sz="2800" dirty="0">
                <a:solidFill>
                  <a:schemeClr val="tx1"/>
                </a:solidFill>
                <a:latin typeface="黑体" charset="0"/>
                <a:ea typeface="黑体" charset="0"/>
              </a:rPr>
              <a:t>2</a:t>
            </a:r>
            <a:r>
              <a:rPr lang="zh-CN" altLang="en-US" sz="2800" dirty="0">
                <a:latin typeface="黑体" panose="02010609060101010101" pitchFamily="49" charset="-122"/>
                <a:ea typeface="黑体" panose="02010609060101010101" pitchFamily="49" charset="-122"/>
              </a:rPr>
              <a:t>月</a:t>
            </a:r>
            <a:endParaRPr lang="zh-CN" altLang="en-US" sz="2800" dirty="0">
              <a:latin typeface="黑体" panose="02010609060101010101" pitchFamily="49" charset="-122"/>
              <a:ea typeface="黑体" panose="02010609060101010101" pitchFamily="49" charset="-122"/>
            </a:endParaRPr>
          </a:p>
        </p:txBody>
      </p:sp>
      <p:sp>
        <p:nvSpPr>
          <p:cNvPr id="5" name="矩形 4"/>
          <p:cNvSpPr/>
          <p:nvPr/>
        </p:nvSpPr>
        <p:spPr>
          <a:xfrm>
            <a:off x="4480962" y="4733151"/>
            <a:ext cx="3614420" cy="521970"/>
          </a:xfrm>
          <a:prstGeom prst="rect">
            <a:avLst/>
          </a:prstGeom>
        </p:spPr>
        <p:txBody>
          <a:bodyPr wrap="none">
            <a:spAutoFit/>
          </a:bodyPr>
          <a:p>
            <a:r>
              <a:rPr lang="zh-CN" altLang="en-US" sz="2800" dirty="0">
                <a:solidFill>
                  <a:schemeClr val="tx1"/>
                </a:solidFill>
                <a:latin typeface="微软雅黑" panose="020B0503020204020204" charset="-122"/>
                <a:ea typeface="微软雅黑" panose="020B0503020204020204" charset="-122"/>
              </a:rPr>
              <a:t>陈昊旸 江滢怡 杨云飞</a:t>
            </a:r>
            <a:endParaRPr lang="zh-CN" altLang="en-US">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076" name="AutoShape 2" descr="http://img1.gtimg.com/rushidao/pics/hv1/229/47/1914/124470064.jpg"/>
          <p:cNvSpPr>
            <a:spLocks noChangeAspect="1"/>
          </p:cNvSpPr>
          <p:nvPr/>
        </p:nvSpPr>
        <p:spPr>
          <a:xfrm>
            <a:off x="207433" y="-192616"/>
            <a:ext cx="406400" cy="406400"/>
          </a:xfrm>
          <a:prstGeom prst="rect">
            <a:avLst/>
          </a:prstGeom>
          <a:noFill/>
          <a:ln w="9525">
            <a:noFill/>
          </a:ln>
        </p:spPr>
        <p:txBody>
          <a:bodyPr/>
          <a:p>
            <a:pPr eaLnBrk="1" hangingPunct="1"/>
            <a:endParaRPr lang="zh-CN" altLang="en-US" sz="2400" dirty="0">
              <a:latin typeface="Arial" panose="020B0604020202020204" pitchFamily="34" charset="0"/>
            </a:endParaRPr>
          </a:p>
        </p:txBody>
      </p:sp>
      <p:sp>
        <p:nvSpPr>
          <p:cNvPr id="5" name="标题 1"/>
          <p:cNvSpPr txBox="1"/>
          <p:nvPr>
            <p:custDataLst>
              <p:tags r:id="rId1"/>
            </p:custDataLst>
          </p:nvPr>
        </p:nvSpPr>
        <p:spPr>
          <a:xfrm>
            <a:off x="463137" y="174094"/>
            <a:ext cx="11409315" cy="7364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defRPr/>
            </a:pPr>
            <a:r>
              <a:rPr lang="zh-CN" altLang="en-US" sz="3600" b="1" dirty="0">
                <a:solidFill>
                  <a:schemeClr val="tx1"/>
                </a:solidFill>
                <a:latin typeface="微软雅黑" panose="020B0503020204020204" charset="-122"/>
                <a:ea typeface="微软雅黑" panose="020B0503020204020204" charset="-122"/>
                <a:sym typeface="+mn-ea"/>
              </a:rPr>
              <a:t>大模型范式的新能力：</a:t>
            </a:r>
            <a:r>
              <a:rPr lang="zh-CN" altLang="en-US" sz="3600" b="1" dirty="0">
                <a:solidFill>
                  <a:srgbClr val="C00000"/>
                </a:solidFill>
                <a:latin typeface="微软雅黑" panose="020B0503020204020204" charset="-122"/>
                <a:ea typeface="微软雅黑" panose="020B0503020204020204" charset="-122"/>
                <a:sym typeface="+mn-ea"/>
              </a:rPr>
              <a:t>提示词工程</a:t>
            </a:r>
            <a:endParaRPr lang="zh-CN" altLang="en-US">
              <a:latin typeface="微软雅黑" panose="020B0503020204020204" charset="-122"/>
              <a:ea typeface="微软雅黑" panose="020B0503020204020204" charset="-122"/>
              <a:sym typeface="+mn-ea"/>
            </a:endParaRPr>
          </a:p>
        </p:txBody>
      </p:sp>
      <p:sp>
        <p:nvSpPr>
          <p:cNvPr id="2" name="内容占位符 2"/>
          <p:cNvSpPr>
            <a:spLocks noGrp="1"/>
          </p:cNvSpPr>
          <p:nvPr/>
        </p:nvSpPr>
        <p:spPr>
          <a:xfrm>
            <a:off x="838200" y="1318260"/>
            <a:ext cx="4577715" cy="4667250"/>
          </a:xfrm>
          <a:prstGeom prst="rect">
            <a:avLst/>
          </a:prstGeom>
          <a:noFill/>
          <a:ln>
            <a:noFill/>
          </a:ln>
        </p:spPr>
        <p:txBody>
          <a:bodyPr vert="horz" wrap="square" lIns="91440" tIns="45720" rIns="91440" bIns="45720" numCol="1" rtlCol="0" anchor="t" anchorCtr="0" compatLnSpc="1">
            <a:normAutofit fontScale="87500" lnSpcReduction="20000"/>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a:t>Prompt</a:t>
            </a:r>
            <a:r>
              <a:rPr lang="zh-CN" altLang="en-US" sz="2800"/>
              <a:t>是用户或系统提供给大型语言模型的初始输入，它不仅定义了</a:t>
            </a:r>
            <a:r>
              <a:rPr lang="zh-CN" altLang="en-US" sz="2800">
                <a:solidFill>
                  <a:srgbClr val="FF0000"/>
                </a:solidFill>
              </a:rPr>
              <a:t>任务类型和目标</a:t>
            </a:r>
            <a:r>
              <a:rPr lang="zh-CN" altLang="en-US" sz="2800"/>
              <a:t>，还为模型提供了必要的</a:t>
            </a:r>
            <a:r>
              <a:rPr lang="zh-CN" altLang="en-US" sz="2800">
                <a:solidFill>
                  <a:srgbClr val="FF0000"/>
                </a:solidFill>
              </a:rPr>
              <a:t>上下文信息</a:t>
            </a:r>
            <a:r>
              <a:rPr lang="zh-CN" altLang="en-US" sz="2800"/>
              <a:t>，从而引导其生成符合预期的输出。</a:t>
            </a:r>
            <a:endParaRPr lang="zh-CN" altLang="en-US" sz="2800"/>
          </a:p>
          <a:p>
            <a:r>
              <a:rPr lang="zh-CN" altLang="en-US" sz="2800"/>
              <a:t>一个精心设计的</a:t>
            </a:r>
            <a:r>
              <a:rPr lang="en-US" altLang="zh-CN" sz="2800"/>
              <a:t>Prompt</a:t>
            </a:r>
            <a:r>
              <a:rPr lang="zh-CN" altLang="en-US" sz="2800"/>
              <a:t>能够显著提升模型的表现，使其生成更准确、相关和有用的响应，因此，</a:t>
            </a:r>
            <a:r>
              <a:rPr lang="en-US" altLang="zh-CN" sz="2800"/>
              <a:t>Prompt</a:t>
            </a:r>
            <a:r>
              <a:rPr lang="zh-CN" altLang="en-US" sz="2800"/>
              <a:t>的</a:t>
            </a:r>
            <a:r>
              <a:rPr lang="zh-CN" altLang="en-US" sz="2800">
                <a:solidFill>
                  <a:srgbClr val="FF0000"/>
                </a:solidFill>
              </a:rPr>
              <a:t>设计</a:t>
            </a:r>
            <a:r>
              <a:rPr lang="zh-CN" altLang="en-US" sz="2800"/>
              <a:t>和</a:t>
            </a:r>
            <a:r>
              <a:rPr lang="zh-CN" altLang="en-US" sz="2800">
                <a:solidFill>
                  <a:srgbClr val="FF0000"/>
                </a:solidFill>
              </a:rPr>
              <a:t>优化</a:t>
            </a:r>
            <a:r>
              <a:rPr lang="zh-CN" altLang="en-US" sz="2800"/>
              <a:t>是构建高效</a:t>
            </a:r>
            <a:r>
              <a:rPr lang="en-US" altLang="zh-CN" sz="2800"/>
              <a:t>LLM Agent</a:t>
            </a:r>
            <a:r>
              <a:rPr lang="zh-CN" altLang="en-US" sz="2800"/>
              <a:t>的关键环节。</a:t>
            </a:r>
            <a:endParaRPr lang="zh-CN" altLang="en-US" sz="2800"/>
          </a:p>
        </p:txBody>
      </p:sp>
      <p:pic>
        <p:nvPicPr>
          <p:cNvPr id="6" name="图片 5"/>
          <p:cNvPicPr/>
          <p:nvPr/>
        </p:nvPicPr>
        <p:blipFill>
          <a:blip r:embed="rId2"/>
          <a:stretch>
            <a:fillRect/>
          </a:stretch>
        </p:blipFill>
        <p:spPr>
          <a:xfrm>
            <a:off x="5590540" y="975995"/>
            <a:ext cx="5930900" cy="53517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076" name="AutoShape 2" descr="http://img1.gtimg.com/rushidao/pics/hv1/229/47/1914/124470064.jpg"/>
          <p:cNvSpPr>
            <a:spLocks noChangeAspect="1"/>
          </p:cNvSpPr>
          <p:nvPr/>
        </p:nvSpPr>
        <p:spPr>
          <a:xfrm>
            <a:off x="207433" y="-192616"/>
            <a:ext cx="406400" cy="406400"/>
          </a:xfrm>
          <a:prstGeom prst="rect">
            <a:avLst/>
          </a:prstGeom>
          <a:noFill/>
          <a:ln w="9525">
            <a:noFill/>
          </a:ln>
        </p:spPr>
        <p:txBody>
          <a:bodyPr/>
          <a:p>
            <a:pPr eaLnBrk="1" hangingPunct="1"/>
            <a:endParaRPr lang="zh-CN" altLang="en-US" sz="2400" dirty="0">
              <a:latin typeface="Arial" panose="020B0604020202020204" pitchFamily="34" charset="0"/>
            </a:endParaRPr>
          </a:p>
        </p:txBody>
      </p:sp>
      <p:pic>
        <p:nvPicPr>
          <p:cNvPr id="128" name="图片 127"/>
          <p:cNvPicPr>
            <a:picLocks noChangeAspect="1"/>
          </p:cNvPicPr>
          <p:nvPr>
            <p:custDataLst>
              <p:tags r:id="rId1"/>
            </p:custDataLst>
          </p:nvPr>
        </p:nvPicPr>
        <p:blipFill>
          <a:blip r:embed="rId2"/>
          <a:srcRect l="9349" r="4522" b="38850"/>
          <a:stretch>
            <a:fillRect/>
          </a:stretch>
        </p:blipFill>
        <p:spPr>
          <a:xfrm>
            <a:off x="3170873" y="3637915"/>
            <a:ext cx="5850255" cy="3219450"/>
          </a:xfrm>
          <a:prstGeom prst="rect">
            <a:avLst/>
          </a:prstGeom>
        </p:spPr>
      </p:pic>
      <p:grpSp>
        <p:nvGrpSpPr>
          <p:cNvPr id="4" name="组合 3"/>
          <p:cNvGrpSpPr/>
          <p:nvPr/>
        </p:nvGrpSpPr>
        <p:grpSpPr>
          <a:xfrm>
            <a:off x="383858" y="1713230"/>
            <a:ext cx="11424285" cy="1920240"/>
            <a:chOff x="459" y="2698"/>
            <a:chExt cx="17991" cy="3024"/>
          </a:xfrm>
        </p:grpSpPr>
        <p:sp>
          <p:nvSpPr>
            <p:cNvPr id="64" name="圆角矩形 63"/>
            <p:cNvSpPr/>
            <p:nvPr/>
          </p:nvSpPr>
          <p:spPr>
            <a:xfrm>
              <a:off x="459" y="2698"/>
              <a:ext cx="9259" cy="271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descr="32313539383036303b32313539383035353b673a56684eba"/>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69" y="3658"/>
              <a:ext cx="1440" cy="1440"/>
            </a:xfrm>
            <a:prstGeom prst="rect">
              <a:avLst/>
            </a:prstGeom>
          </p:spPr>
        </p:pic>
        <p:sp>
          <p:nvSpPr>
            <p:cNvPr id="35" name="文本框 34"/>
            <p:cNvSpPr txBox="1"/>
            <p:nvPr>
              <p:custDataLst>
                <p:tags r:id="rId6"/>
              </p:custDataLst>
            </p:nvPr>
          </p:nvSpPr>
          <p:spPr>
            <a:xfrm>
              <a:off x="622" y="2857"/>
              <a:ext cx="1820"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监督学习</a:t>
              </a:r>
              <a:endParaRPr lang="zh-CN" altLang="en-US" b="1">
                <a:latin typeface="Times New Roman" panose="02020603050405020304" pitchFamily="18" charset="0"/>
                <a:cs typeface="Times New Roman" panose="02020603050405020304" pitchFamily="18" charset="0"/>
              </a:endParaRPr>
            </a:p>
          </p:txBody>
        </p:sp>
        <p:sp>
          <p:nvSpPr>
            <p:cNvPr id="44" name="文本框 43"/>
            <p:cNvSpPr txBox="1"/>
            <p:nvPr>
              <p:custDataLst>
                <p:tags r:id="rId7"/>
              </p:custDataLst>
            </p:nvPr>
          </p:nvSpPr>
          <p:spPr>
            <a:xfrm>
              <a:off x="5693" y="2823"/>
              <a:ext cx="1224"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一般</a:t>
              </a:r>
              <a:endParaRPr lang="zh-CN" altLang="en-US" b="1">
                <a:latin typeface="Times New Roman" panose="02020603050405020304" pitchFamily="18" charset="0"/>
                <a:cs typeface="Times New Roman" panose="02020603050405020304" pitchFamily="18" charset="0"/>
              </a:endParaRPr>
            </a:p>
          </p:txBody>
        </p:sp>
        <p:sp>
          <p:nvSpPr>
            <p:cNvPr id="48" name="文本框 47"/>
            <p:cNvSpPr txBox="1"/>
            <p:nvPr>
              <p:custDataLst>
                <p:tags r:id="rId8"/>
              </p:custDataLst>
            </p:nvPr>
          </p:nvSpPr>
          <p:spPr>
            <a:xfrm>
              <a:off x="3022" y="2823"/>
              <a:ext cx="1977"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特殊</a:t>
              </a:r>
              <a:endParaRPr lang="zh-CN" altLang="en-US" b="1">
                <a:latin typeface="Times New Roman" panose="02020603050405020304" pitchFamily="18" charset="0"/>
                <a:cs typeface="Times New Roman" panose="02020603050405020304" pitchFamily="18" charset="0"/>
              </a:endParaRPr>
            </a:p>
          </p:txBody>
        </p:sp>
        <p:sp>
          <p:nvSpPr>
            <p:cNvPr id="56" name="文本框 55"/>
            <p:cNvSpPr txBox="1"/>
            <p:nvPr>
              <p:custDataLst>
                <p:tags r:id="rId9"/>
              </p:custDataLst>
            </p:nvPr>
          </p:nvSpPr>
          <p:spPr>
            <a:xfrm>
              <a:off x="2852" y="3787"/>
              <a:ext cx="2375" cy="1016"/>
            </a:xfrm>
            <a:prstGeom prst="rect">
              <a:avLst/>
            </a:prstGeom>
            <a:noFill/>
          </p:spPr>
          <p:txBody>
            <a:bodyPr wrap="square" rtlCol="0" anchor="t">
              <a:spAutoFit/>
            </a:bodyPr>
            <a:lstStyle/>
            <a:p>
              <a:pPr algn="ctr">
                <a:buClrTx/>
                <a:buSzTx/>
                <a:buFontTx/>
              </a:pPr>
              <a:r>
                <a:rPr lang="en-US" altLang="zh-CN" b="1">
                  <a:solidFill>
                    <a:srgbClr val="16468D"/>
                  </a:solidFill>
                  <a:sym typeface="+mn-ea"/>
                </a:rPr>
                <a:t>1+1=2</a:t>
              </a:r>
              <a:endParaRPr lang="en-US" altLang="zh-CN" b="1">
                <a:solidFill>
                  <a:srgbClr val="16468D"/>
                </a:solidFill>
                <a:sym typeface="+mn-ea"/>
              </a:endParaRPr>
            </a:p>
            <a:p>
              <a:pPr algn="ctr">
                <a:buClrTx/>
                <a:buSzTx/>
                <a:buFontTx/>
              </a:pPr>
              <a:r>
                <a:rPr lang="en-US" altLang="zh-CN" b="1">
                  <a:solidFill>
                    <a:srgbClr val="16468D"/>
                  </a:solidFill>
                  <a:sym typeface="+mn-ea"/>
                </a:rPr>
                <a:t>3+2=5</a:t>
              </a:r>
              <a:endParaRPr lang="en-US" altLang="zh-CN" b="1">
                <a:solidFill>
                  <a:srgbClr val="16468D"/>
                </a:solidFill>
                <a:sym typeface="+mn-ea"/>
              </a:endParaRPr>
            </a:p>
          </p:txBody>
        </p:sp>
        <p:sp>
          <p:nvSpPr>
            <p:cNvPr id="57" name="文本框 56"/>
            <p:cNvSpPr txBox="1"/>
            <p:nvPr/>
          </p:nvSpPr>
          <p:spPr>
            <a:xfrm>
              <a:off x="7783" y="4005"/>
              <a:ext cx="1864" cy="580"/>
            </a:xfrm>
            <a:prstGeom prst="rect">
              <a:avLst/>
            </a:prstGeom>
            <a:noFill/>
          </p:spPr>
          <p:txBody>
            <a:bodyPr wrap="square" rtlCol="0" anchor="t">
              <a:spAutoFit/>
            </a:bodyPr>
            <a:lstStyle/>
            <a:p>
              <a:pPr algn="ctr">
                <a:buClrTx/>
                <a:buSzTx/>
                <a:buFontTx/>
              </a:pPr>
              <a:r>
                <a:rPr lang="en-US" altLang="zh-CN" b="1">
                  <a:solidFill>
                    <a:srgbClr val="16468D"/>
                  </a:solidFill>
                  <a:sym typeface="+mn-ea"/>
                </a:rPr>
                <a:t>2-1=?</a:t>
              </a:r>
              <a:endParaRPr lang="en-US" altLang="zh-CN" b="1">
                <a:solidFill>
                  <a:srgbClr val="16468D"/>
                </a:solidFill>
                <a:sym typeface="+mn-ea"/>
              </a:endParaRPr>
            </a:p>
          </p:txBody>
        </p:sp>
        <p:sp>
          <p:nvSpPr>
            <p:cNvPr id="59" name="文本框 58"/>
            <p:cNvSpPr txBox="1"/>
            <p:nvPr>
              <p:custDataLst>
                <p:tags r:id="rId10"/>
              </p:custDataLst>
            </p:nvPr>
          </p:nvSpPr>
          <p:spPr>
            <a:xfrm>
              <a:off x="7611" y="2823"/>
              <a:ext cx="1977"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特殊</a:t>
              </a:r>
              <a:endParaRPr lang="zh-CN" altLang="en-US" b="1">
                <a:latin typeface="Times New Roman" panose="02020603050405020304" pitchFamily="18" charset="0"/>
                <a:cs typeface="Times New Roman" panose="02020603050405020304" pitchFamily="18" charset="0"/>
              </a:endParaRPr>
            </a:p>
          </p:txBody>
        </p:sp>
        <p:sp>
          <p:nvSpPr>
            <p:cNvPr id="72" name="右箭头 71"/>
            <p:cNvSpPr/>
            <p:nvPr>
              <p:custDataLst>
                <p:tags r:id="rId11"/>
              </p:custDataLst>
            </p:nvPr>
          </p:nvSpPr>
          <p:spPr>
            <a:xfrm>
              <a:off x="4893" y="4064"/>
              <a:ext cx="334" cy="462"/>
            </a:xfrm>
            <a:prstGeom prst="rightArrow">
              <a:avLst/>
            </a:prstGeom>
            <a:solidFill>
              <a:srgbClr val="183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3" name="右箭头 72"/>
            <p:cNvSpPr/>
            <p:nvPr>
              <p:custDataLst>
                <p:tags r:id="rId12"/>
              </p:custDataLst>
            </p:nvPr>
          </p:nvSpPr>
          <p:spPr>
            <a:xfrm>
              <a:off x="7448" y="4064"/>
              <a:ext cx="334" cy="462"/>
            </a:xfrm>
            <a:prstGeom prst="rightArrow">
              <a:avLst/>
            </a:prstGeom>
            <a:solidFill>
              <a:srgbClr val="183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8" name="右箭头 77"/>
            <p:cNvSpPr/>
            <p:nvPr>
              <p:custDataLst>
                <p:tags r:id="rId13"/>
              </p:custDataLst>
            </p:nvPr>
          </p:nvSpPr>
          <p:spPr>
            <a:xfrm>
              <a:off x="4918" y="2882"/>
              <a:ext cx="334" cy="462"/>
            </a:xfrm>
            <a:prstGeom prst="rightArrow">
              <a:avLst/>
            </a:prstGeom>
            <a:solidFill>
              <a:srgbClr val="183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2" name="右箭头 81"/>
            <p:cNvSpPr/>
            <p:nvPr>
              <p:custDataLst>
                <p:tags r:id="rId14"/>
              </p:custDataLst>
            </p:nvPr>
          </p:nvSpPr>
          <p:spPr>
            <a:xfrm>
              <a:off x="7419" y="2882"/>
              <a:ext cx="334" cy="462"/>
            </a:xfrm>
            <a:prstGeom prst="rightArrow">
              <a:avLst/>
            </a:prstGeom>
            <a:solidFill>
              <a:srgbClr val="183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124" name="组合 123"/>
            <p:cNvGrpSpPr/>
            <p:nvPr/>
          </p:nvGrpSpPr>
          <p:grpSpPr>
            <a:xfrm>
              <a:off x="5712" y="3463"/>
              <a:ext cx="1488" cy="1440"/>
              <a:chOff x="5713" y="2727"/>
              <a:chExt cx="1488" cy="1440"/>
            </a:xfrm>
          </p:grpSpPr>
          <p:pic>
            <p:nvPicPr>
              <p:cNvPr id="29" name="图片 28" descr="32313538343134373b32313538343134323b8ba17b97673a"/>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713" y="2727"/>
                <a:ext cx="1440" cy="1440"/>
              </a:xfrm>
              <a:prstGeom prst="rect">
                <a:avLst/>
              </a:prstGeom>
            </p:spPr>
          </p:pic>
          <p:sp>
            <p:nvSpPr>
              <p:cNvPr id="90" name="文本框 89"/>
              <p:cNvSpPr txBox="1"/>
              <p:nvPr>
                <p:custDataLst>
                  <p:tags r:id="rId18"/>
                </p:custDataLst>
              </p:nvPr>
            </p:nvSpPr>
            <p:spPr>
              <a:xfrm>
                <a:off x="5917" y="3098"/>
                <a:ext cx="1148" cy="567"/>
              </a:xfrm>
              <a:prstGeom prst="rect">
                <a:avLst/>
              </a:prstGeom>
              <a:solidFill>
                <a:schemeClr val="bg1"/>
              </a:solidFill>
            </p:spPr>
            <p:txBody>
              <a:bodyPr wrap="square" rtlCol="0">
                <a:noAutofit/>
              </a:bodyPr>
              <a:lstStyle/>
              <a:p>
                <a:pPr algn="ctr"/>
                <a:endParaRPr lang="zh-CN" altLang="en-US" b="1">
                  <a:latin typeface="Times New Roman" panose="02020603050405020304" pitchFamily="18" charset="0"/>
                  <a:cs typeface="Times New Roman" panose="02020603050405020304" pitchFamily="18" charset="0"/>
                </a:endParaRPr>
              </a:p>
            </p:txBody>
          </p:sp>
          <p:sp>
            <p:nvSpPr>
              <p:cNvPr id="89" name="文本框 88"/>
              <p:cNvSpPr txBox="1"/>
              <p:nvPr/>
            </p:nvSpPr>
            <p:spPr>
              <a:xfrm>
                <a:off x="5813" y="3085"/>
                <a:ext cx="1388" cy="531"/>
              </a:xfrm>
              <a:prstGeom prst="rect">
                <a:avLst/>
              </a:prstGeom>
              <a:noFill/>
            </p:spPr>
            <p:txBody>
              <a:bodyPr wrap="square" rtlCol="0">
                <a:spAutoFit/>
              </a:bodyPr>
              <a:lstStyle/>
              <a:p>
                <a:r>
                  <a:rPr lang="zh-CN" altLang="en-US" sz="1600" b="1">
                    <a:solidFill>
                      <a:srgbClr val="4F7DF7"/>
                    </a:solidFill>
                    <a:latin typeface="微软雅黑" panose="020B0503020204020204" charset="-122"/>
                    <a:ea typeface="微软雅黑" panose="020B0503020204020204" charset="-122"/>
                  </a:rPr>
                  <a:t>计算器</a:t>
                </a:r>
                <a:endParaRPr lang="zh-CN" altLang="en-US" sz="1600" b="1">
                  <a:solidFill>
                    <a:srgbClr val="4F7DF7"/>
                  </a:solidFill>
                  <a:latin typeface="微软雅黑" panose="020B0503020204020204" charset="-122"/>
                  <a:ea typeface="微软雅黑" panose="020B0503020204020204" charset="-122"/>
                </a:endParaRPr>
              </a:p>
            </p:txBody>
          </p:sp>
        </p:grpSp>
        <p:sp>
          <p:nvSpPr>
            <p:cNvPr id="106" name="圆角矩形 105"/>
            <p:cNvSpPr/>
            <p:nvPr>
              <p:custDataLst>
                <p:tags r:id="rId19"/>
              </p:custDataLst>
            </p:nvPr>
          </p:nvSpPr>
          <p:spPr>
            <a:xfrm>
              <a:off x="11293" y="2698"/>
              <a:ext cx="6951" cy="271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8" name="图片 107" descr="32313539383036303b32313539383035353b673a56684eba"/>
            <p:cNvPicPr>
              <a:picLocks noChangeAspect="1"/>
            </p:cNvPicPr>
            <p:nvPr>
              <p:custDataLst>
                <p:tags r:id="rId20"/>
              </p:custDataLst>
            </p:nvPr>
          </p:nvPicPr>
          <p:blipFill>
            <a:blip r:embed="rId4">
              <a:extLst>
                <a:ext uri="{96DAC541-7B7A-43D3-8B79-37D633B846F1}">
                  <asvg:svgBlip xmlns:asvg="http://schemas.microsoft.com/office/drawing/2016/SVG/main" r:embed="rId5"/>
                </a:ext>
              </a:extLst>
            </a:blip>
            <a:stretch>
              <a:fillRect/>
            </a:stretch>
          </p:blipFill>
          <p:spPr>
            <a:xfrm>
              <a:off x="11704" y="3497"/>
              <a:ext cx="1440" cy="1440"/>
            </a:xfrm>
            <a:prstGeom prst="rect">
              <a:avLst/>
            </a:prstGeom>
          </p:spPr>
        </p:pic>
        <p:sp>
          <p:nvSpPr>
            <p:cNvPr id="109" name="文本框 108"/>
            <p:cNvSpPr txBox="1"/>
            <p:nvPr>
              <p:custDataLst>
                <p:tags r:id="rId21"/>
              </p:custDataLst>
            </p:nvPr>
          </p:nvSpPr>
          <p:spPr>
            <a:xfrm>
              <a:off x="11294" y="2782"/>
              <a:ext cx="2242"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上下文学习</a:t>
              </a:r>
              <a:endParaRPr lang="zh-CN" altLang="en-US" b="1">
                <a:latin typeface="Times New Roman" panose="02020603050405020304" pitchFamily="18" charset="0"/>
                <a:cs typeface="Times New Roman" panose="02020603050405020304" pitchFamily="18" charset="0"/>
              </a:endParaRPr>
            </a:p>
          </p:txBody>
        </p:sp>
        <p:sp>
          <p:nvSpPr>
            <p:cNvPr id="111" name="文本框 110"/>
            <p:cNvSpPr txBox="1"/>
            <p:nvPr>
              <p:custDataLst>
                <p:tags r:id="rId22"/>
              </p:custDataLst>
            </p:nvPr>
          </p:nvSpPr>
          <p:spPr>
            <a:xfrm>
              <a:off x="13857" y="2841"/>
              <a:ext cx="1977"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特殊</a:t>
              </a:r>
              <a:endParaRPr lang="zh-CN" altLang="en-US" b="1">
                <a:latin typeface="Times New Roman" panose="02020603050405020304" pitchFamily="18" charset="0"/>
                <a:cs typeface="Times New Roman" panose="02020603050405020304" pitchFamily="18" charset="0"/>
              </a:endParaRPr>
            </a:p>
          </p:txBody>
        </p:sp>
        <p:sp>
          <p:nvSpPr>
            <p:cNvPr id="112" name="文本框 111"/>
            <p:cNvSpPr txBox="1"/>
            <p:nvPr>
              <p:custDataLst>
                <p:tags r:id="rId23"/>
              </p:custDataLst>
            </p:nvPr>
          </p:nvSpPr>
          <p:spPr>
            <a:xfrm>
              <a:off x="13687" y="3805"/>
              <a:ext cx="2375" cy="1016"/>
            </a:xfrm>
            <a:prstGeom prst="rect">
              <a:avLst/>
            </a:prstGeom>
            <a:noFill/>
          </p:spPr>
          <p:txBody>
            <a:bodyPr wrap="square" rtlCol="0" anchor="t">
              <a:spAutoFit/>
            </a:bodyPr>
            <a:lstStyle/>
            <a:p>
              <a:pPr algn="ctr">
                <a:buClrTx/>
                <a:buSzTx/>
                <a:buFontTx/>
              </a:pPr>
              <a:r>
                <a:rPr lang="en-US" altLang="zh-CN" b="1">
                  <a:solidFill>
                    <a:srgbClr val="16468D"/>
                  </a:solidFill>
                  <a:sym typeface="+mn-ea"/>
                </a:rPr>
                <a:t>1+1=2</a:t>
              </a:r>
              <a:endParaRPr lang="en-US" altLang="zh-CN" b="1">
                <a:solidFill>
                  <a:srgbClr val="16468D"/>
                </a:solidFill>
                <a:sym typeface="+mn-ea"/>
              </a:endParaRPr>
            </a:p>
            <a:p>
              <a:pPr algn="ctr">
                <a:buClrTx/>
                <a:buSzTx/>
                <a:buFontTx/>
              </a:pPr>
              <a:r>
                <a:rPr lang="en-US" altLang="zh-CN" b="1">
                  <a:solidFill>
                    <a:srgbClr val="16468D"/>
                  </a:solidFill>
                  <a:sym typeface="+mn-ea"/>
                </a:rPr>
                <a:t>3+2=5</a:t>
              </a:r>
              <a:endParaRPr lang="en-US" altLang="zh-CN" b="1">
                <a:solidFill>
                  <a:srgbClr val="16468D"/>
                </a:solidFill>
                <a:sym typeface="+mn-ea"/>
              </a:endParaRPr>
            </a:p>
          </p:txBody>
        </p:sp>
        <p:sp>
          <p:nvSpPr>
            <p:cNvPr id="113" name="文本框 112"/>
            <p:cNvSpPr txBox="1"/>
            <p:nvPr>
              <p:custDataLst>
                <p:tags r:id="rId24"/>
              </p:custDataLst>
            </p:nvPr>
          </p:nvSpPr>
          <p:spPr>
            <a:xfrm>
              <a:off x="16586" y="4023"/>
              <a:ext cx="1864" cy="580"/>
            </a:xfrm>
            <a:prstGeom prst="rect">
              <a:avLst/>
            </a:prstGeom>
            <a:noFill/>
          </p:spPr>
          <p:txBody>
            <a:bodyPr wrap="square" rtlCol="0" anchor="t">
              <a:spAutoFit/>
            </a:bodyPr>
            <a:lstStyle/>
            <a:p>
              <a:pPr algn="ctr">
                <a:buClrTx/>
                <a:buSzTx/>
                <a:buFontTx/>
              </a:pPr>
              <a:r>
                <a:rPr lang="en-US" altLang="zh-CN" b="1">
                  <a:solidFill>
                    <a:srgbClr val="16468D"/>
                  </a:solidFill>
                  <a:sym typeface="+mn-ea"/>
                </a:rPr>
                <a:t>2-1=?</a:t>
              </a:r>
              <a:endParaRPr lang="en-US" altLang="zh-CN" b="1">
                <a:solidFill>
                  <a:srgbClr val="16468D"/>
                </a:solidFill>
                <a:sym typeface="+mn-ea"/>
              </a:endParaRPr>
            </a:p>
          </p:txBody>
        </p:sp>
        <p:sp>
          <p:nvSpPr>
            <p:cNvPr id="114" name="文本框 113"/>
            <p:cNvSpPr txBox="1"/>
            <p:nvPr>
              <p:custDataLst>
                <p:tags r:id="rId25"/>
              </p:custDataLst>
            </p:nvPr>
          </p:nvSpPr>
          <p:spPr>
            <a:xfrm>
              <a:off x="16414" y="2841"/>
              <a:ext cx="1977" cy="580"/>
            </a:xfrm>
            <a:prstGeom prst="rect">
              <a:avLst/>
            </a:prstGeom>
            <a:noFill/>
          </p:spPr>
          <p:txBody>
            <a:bodyPr wrap="square" rtlCol="0">
              <a:spAutoFit/>
            </a:bodyPr>
            <a:lstStyle/>
            <a:p>
              <a:pPr algn="ctr"/>
              <a:r>
                <a:rPr lang="zh-CN" altLang="en-US" b="1">
                  <a:latin typeface="Times New Roman" panose="02020603050405020304" pitchFamily="18" charset="0"/>
                  <a:cs typeface="Times New Roman" panose="02020603050405020304" pitchFamily="18" charset="0"/>
                </a:rPr>
                <a:t>特殊</a:t>
              </a:r>
              <a:endParaRPr lang="zh-CN" altLang="en-US" b="1">
                <a:latin typeface="Times New Roman" panose="02020603050405020304" pitchFamily="18" charset="0"/>
                <a:cs typeface="Times New Roman" panose="02020603050405020304" pitchFamily="18" charset="0"/>
              </a:endParaRPr>
            </a:p>
          </p:txBody>
        </p:sp>
        <p:sp>
          <p:nvSpPr>
            <p:cNvPr id="115" name="右箭头 114"/>
            <p:cNvSpPr/>
            <p:nvPr>
              <p:custDataLst>
                <p:tags r:id="rId26"/>
              </p:custDataLst>
            </p:nvPr>
          </p:nvSpPr>
          <p:spPr>
            <a:xfrm>
              <a:off x="15932" y="4111"/>
              <a:ext cx="334" cy="462"/>
            </a:xfrm>
            <a:prstGeom prst="rightArrow">
              <a:avLst/>
            </a:prstGeom>
            <a:solidFill>
              <a:srgbClr val="183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7" name="右箭头 116"/>
            <p:cNvSpPr/>
            <p:nvPr>
              <p:custDataLst>
                <p:tags r:id="rId27"/>
              </p:custDataLst>
            </p:nvPr>
          </p:nvSpPr>
          <p:spPr>
            <a:xfrm>
              <a:off x="15957" y="2929"/>
              <a:ext cx="334" cy="462"/>
            </a:xfrm>
            <a:prstGeom prst="rightArrow">
              <a:avLst/>
            </a:prstGeom>
            <a:solidFill>
              <a:srgbClr val="183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122" name="图片 121" descr="343732303738313b343732313338343b7673"/>
            <p:cNvPicPr>
              <a:picLocks noChangeAspect="1"/>
            </p:cNvPicPr>
            <p:nvPr>
              <p:custDataLst>
                <p:tags r:id="rId28"/>
              </p:custDataLst>
            </p:nvPr>
          </p:nvPicPr>
          <p:blipFill>
            <a:blip r:embed="rId29"/>
            <a:stretch>
              <a:fillRect/>
            </a:stretch>
          </p:blipFill>
          <p:spPr>
            <a:xfrm>
              <a:off x="9974" y="3470"/>
              <a:ext cx="1063" cy="1063"/>
            </a:xfrm>
            <a:prstGeom prst="rect">
              <a:avLst/>
            </a:prstGeom>
          </p:spPr>
        </p:pic>
        <p:sp>
          <p:nvSpPr>
            <p:cNvPr id="126" name="文本框 125"/>
            <p:cNvSpPr txBox="1"/>
            <p:nvPr>
              <p:custDataLst>
                <p:tags r:id="rId30"/>
              </p:custDataLst>
            </p:nvPr>
          </p:nvSpPr>
          <p:spPr>
            <a:xfrm>
              <a:off x="2197" y="5142"/>
              <a:ext cx="6342" cy="580"/>
            </a:xfrm>
            <a:prstGeom prst="rect">
              <a:avLst/>
            </a:prstGeom>
            <a:solidFill>
              <a:schemeClr val="accent4"/>
            </a:solidFill>
          </p:spPr>
          <p:txBody>
            <a:bodyPr wrap="square" rtlCol="0" anchor="t">
              <a:spAutoFit/>
            </a:bodyPr>
            <a:lstStyle/>
            <a:p>
              <a:pPr algn="ctr">
                <a:buClrTx/>
                <a:buSzTx/>
                <a:buFontTx/>
              </a:pPr>
              <a:r>
                <a:rPr lang="zh-CN" altLang="en-US" b="1">
                  <a:latin typeface="微软雅黑" panose="020B0503020204020204" charset="-122"/>
                  <a:ea typeface="微软雅黑" panose="020B0503020204020204" charset="-122"/>
                  <a:sym typeface="+mn-ea"/>
                </a:rPr>
                <a:t>归纳式学习（Inductive Learning）</a:t>
              </a:r>
              <a:endParaRPr lang="zh-CN" altLang="en-US" b="1">
                <a:latin typeface="微软雅黑" panose="020B0503020204020204" charset="-122"/>
                <a:ea typeface="微软雅黑" panose="020B0503020204020204" charset="-122"/>
                <a:sym typeface="+mn-ea"/>
              </a:endParaRPr>
            </a:p>
          </p:txBody>
        </p:sp>
        <p:sp>
          <p:nvSpPr>
            <p:cNvPr id="127" name="文本框 126"/>
            <p:cNvSpPr txBox="1"/>
            <p:nvPr>
              <p:custDataLst>
                <p:tags r:id="rId31"/>
              </p:custDataLst>
            </p:nvPr>
          </p:nvSpPr>
          <p:spPr>
            <a:xfrm>
              <a:off x="11443" y="5133"/>
              <a:ext cx="6642" cy="581"/>
            </a:xfrm>
            <a:prstGeom prst="rect">
              <a:avLst/>
            </a:prstGeom>
            <a:solidFill>
              <a:schemeClr val="accent4"/>
            </a:solidFill>
          </p:spPr>
          <p:txBody>
            <a:bodyPr wrap="square" lIns="0" tIns="0" rIns="0" bIns="0" rtlCol="0" anchor="ctr" anchorCtr="0">
              <a:noAutofit/>
            </a:bodyPr>
            <a:lstStyle/>
            <a:p>
              <a:pPr algn="ctr">
                <a:buClrTx/>
                <a:buSzTx/>
                <a:buFontTx/>
              </a:pPr>
              <a:r>
                <a:rPr lang="en-US" altLang="zh-CN" b="1">
                  <a:latin typeface="微软雅黑" panose="020B0503020204020204" charset="-122"/>
                  <a:ea typeface="微软雅黑" panose="020B0503020204020204" charset="-122"/>
                  <a:sym typeface="+mn-ea"/>
                </a:rPr>
                <a:t>  </a:t>
              </a:r>
              <a:r>
                <a:rPr lang="zh-CN" altLang="en-US" b="1">
                  <a:latin typeface="微软雅黑" panose="020B0503020204020204" charset="-122"/>
                  <a:ea typeface="微软雅黑" panose="020B0503020204020204" charset="-122"/>
                  <a:sym typeface="+mn-ea"/>
                </a:rPr>
                <a:t>转导式学习（Transductive Learning）</a:t>
              </a:r>
              <a:endParaRPr lang="zh-CN" altLang="en-US" b="1">
                <a:latin typeface="微软雅黑" panose="020B0503020204020204" charset="-122"/>
                <a:ea typeface="微软雅黑" panose="020B0503020204020204" charset="-122"/>
                <a:sym typeface="+mn-ea"/>
              </a:endParaRPr>
            </a:p>
          </p:txBody>
        </p:sp>
      </p:grpSp>
      <p:sp>
        <p:nvSpPr>
          <p:cNvPr id="2" name="文本框 1"/>
          <p:cNvSpPr txBox="1"/>
          <p:nvPr/>
        </p:nvSpPr>
        <p:spPr>
          <a:xfrm>
            <a:off x="-5715" y="951865"/>
            <a:ext cx="11410315" cy="521970"/>
          </a:xfrm>
          <a:prstGeom prst="rect">
            <a:avLst/>
          </a:prstGeom>
          <a:noFill/>
        </p:spPr>
        <p:txBody>
          <a:bodyPr wrap="square" rtlCol="0" anchor="t">
            <a:spAutoFit/>
          </a:bodyPr>
          <a:lstStyle/>
          <a:p>
            <a:pPr marL="313055" lvl="1" indent="-313055" algn="l">
              <a:spcBef>
                <a:spcPts val="300"/>
              </a:spcBef>
              <a:buClr>
                <a:srgbClr val="183884"/>
              </a:buClr>
              <a:buSzPct val="80000"/>
              <a:buFont typeface="Wingdings" panose="05000000000000000000" pitchFamily="2" charset="2"/>
              <a:buChar char="n"/>
            </a:pPr>
            <a:r>
              <a:rPr lang="zh-CN" altLang="en-US" sz="2800" b="1" dirty="0">
                <a:solidFill>
                  <a:srgbClr val="1A3489"/>
                </a:solidFill>
                <a:latin typeface="微软雅黑" panose="020B0503020204020204" charset="-122"/>
                <a:ea typeface="微软雅黑" panose="020B0503020204020204" charset="-122"/>
                <a:cs typeface="微软雅黑" panose="020B0503020204020204" charset="-122"/>
              </a:rPr>
              <a:t>大模型的足够强大的上下文学习能力是之后各种</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涌现能力激发的基础</a:t>
            </a:r>
            <a:endParaRPr lang="zh-CN" altLang="en-US" sz="2800" b="1"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5" name="标题 1"/>
          <p:cNvSpPr txBox="1"/>
          <p:nvPr>
            <p:custDataLst>
              <p:tags r:id="rId32"/>
            </p:custDataLst>
          </p:nvPr>
        </p:nvSpPr>
        <p:spPr>
          <a:xfrm>
            <a:off x="463137" y="174094"/>
            <a:ext cx="11409315" cy="7364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defRPr/>
            </a:pPr>
            <a:r>
              <a:rPr lang="zh-CN" altLang="en-US" sz="3600" b="1" dirty="0">
                <a:solidFill>
                  <a:schemeClr val="tx1"/>
                </a:solidFill>
                <a:latin typeface="微软雅黑" panose="020B0503020204020204" charset="-122"/>
                <a:ea typeface="微软雅黑" panose="020B0503020204020204" charset="-122"/>
                <a:sym typeface="+mn-ea"/>
              </a:rPr>
              <a:t>大模型范式的新能力：</a:t>
            </a:r>
            <a:r>
              <a:rPr lang="zh-CN" altLang="en-US" sz="3600" b="1" dirty="0">
                <a:solidFill>
                  <a:srgbClr val="C00000"/>
                </a:solidFill>
                <a:latin typeface="微软雅黑" panose="020B0503020204020204" charset="-122"/>
                <a:ea typeface="微软雅黑" panose="020B0503020204020204" charset="-122"/>
                <a:sym typeface="+mn-ea"/>
              </a:rPr>
              <a:t>上下文学习</a:t>
            </a:r>
            <a:endParaRPr lang="zh-CN" altLang="en-US" sz="3600" b="1" dirty="0">
              <a:solidFill>
                <a:srgbClr val="C00000"/>
              </a:solidFill>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t>上下文学习</a:t>
            </a:r>
            <a:endParaRPr lang="zh-CN" altLang="en-US"/>
          </a:p>
        </p:txBody>
      </p:sp>
      <p:sp>
        <p:nvSpPr>
          <p:cNvPr id="9" name="内容占位符 2"/>
          <p:cNvSpPr>
            <a:spLocks noGrp="1"/>
          </p:cNvSpPr>
          <p:nvPr/>
        </p:nvSpPr>
        <p:spPr>
          <a:xfrm>
            <a:off x="838200" y="1318260"/>
            <a:ext cx="10497820" cy="4667250"/>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t>上下文学习（</a:t>
            </a:r>
            <a:r>
              <a:rPr lang="en-US" altLang="zh-CN" sz="2200"/>
              <a:t>In-Context Learning</a:t>
            </a:r>
            <a:r>
              <a:rPr lang="zh-CN" altLang="en-US" sz="2200"/>
              <a:t>）是指大型语言模型（</a:t>
            </a:r>
            <a:r>
              <a:rPr lang="en-US" altLang="zh-CN" sz="2200"/>
              <a:t>LLM</a:t>
            </a:r>
            <a:r>
              <a:rPr lang="zh-CN" altLang="en-US" sz="2200"/>
              <a:t>）在处理任务时，利用输入文本中的</a:t>
            </a:r>
            <a:r>
              <a:rPr lang="zh-CN" altLang="en-US" sz="2200">
                <a:solidFill>
                  <a:srgbClr val="FF0000"/>
                </a:solidFill>
              </a:rPr>
              <a:t>上下文信息</a:t>
            </a:r>
            <a:r>
              <a:rPr lang="zh-CN" altLang="en-US" sz="2200"/>
              <a:t>来理解和生成输出的能力。</a:t>
            </a:r>
            <a:endParaRPr lang="zh-CN" altLang="en-US" sz="2200"/>
          </a:p>
          <a:p>
            <a:r>
              <a:rPr lang="zh-CN" altLang="en-US" sz="2200"/>
              <a:t>它不需要显式的训练或微调，而是直接利用输入文本中的</a:t>
            </a:r>
            <a:r>
              <a:rPr lang="zh-CN" altLang="en-US" sz="2200">
                <a:solidFill>
                  <a:srgbClr val="FF0000"/>
                </a:solidFill>
              </a:rPr>
              <a:t>语境</a:t>
            </a:r>
            <a:r>
              <a:rPr lang="zh-CN" altLang="en-US" sz="2200"/>
              <a:t>、</a:t>
            </a:r>
            <a:r>
              <a:rPr lang="zh-CN" altLang="en-US" sz="2200">
                <a:solidFill>
                  <a:srgbClr val="FF0000"/>
                </a:solidFill>
              </a:rPr>
              <a:t>关系</a:t>
            </a:r>
            <a:r>
              <a:rPr lang="zh-CN" altLang="en-US" sz="2200"/>
              <a:t>和</a:t>
            </a:r>
            <a:r>
              <a:rPr lang="zh-CN" altLang="en-US" sz="2200">
                <a:solidFill>
                  <a:srgbClr val="FF0000"/>
                </a:solidFill>
              </a:rPr>
              <a:t>背景知识</a:t>
            </a:r>
            <a:r>
              <a:rPr lang="zh-CN" altLang="en-US" sz="2200"/>
              <a:t>进行</a:t>
            </a:r>
            <a:r>
              <a:rPr lang="zh-CN" altLang="en-US" sz="2200">
                <a:solidFill>
                  <a:schemeClr val="tx1"/>
                </a:solidFill>
              </a:rPr>
              <a:t>推理和生成输出</a:t>
            </a:r>
            <a:r>
              <a:rPr lang="zh-CN" altLang="en-US" sz="2200"/>
              <a:t>。</a:t>
            </a:r>
            <a:endParaRPr lang="zh-CN" altLang="en-US" sz="2200"/>
          </a:p>
          <a:p>
            <a:r>
              <a:rPr lang="zh-CN" altLang="en-US" sz="2200"/>
              <a:t>上下文学习使得</a:t>
            </a:r>
            <a:r>
              <a:rPr lang="en-US" altLang="zh-CN" sz="2200"/>
              <a:t>LLM</a:t>
            </a:r>
            <a:r>
              <a:rPr lang="zh-CN" altLang="en-US" sz="2200"/>
              <a:t>能够更好地适应不同的任务和场景，生成更准确、相关和有用的响应。</a:t>
            </a:r>
            <a:endParaRPr lang="zh-CN" altLang="en-US" sz="2200"/>
          </a:p>
        </p:txBody>
      </p:sp>
      <p:pic>
        <p:nvPicPr>
          <p:cNvPr id="10" name="图片 9"/>
          <p:cNvPicPr/>
          <p:nvPr/>
        </p:nvPicPr>
        <p:blipFill>
          <a:blip r:embed="rId1"/>
          <a:stretch>
            <a:fillRect/>
          </a:stretch>
        </p:blipFill>
        <p:spPr>
          <a:xfrm>
            <a:off x="838200" y="3742055"/>
            <a:ext cx="8969375" cy="31159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t>零样本</a:t>
            </a:r>
            <a:r>
              <a:rPr lang="en-US" altLang="zh-CN"/>
              <a:t>/</a:t>
            </a:r>
            <a:r>
              <a:rPr lang="zh-CN" altLang="en-US"/>
              <a:t>少样本学习</a:t>
            </a:r>
            <a:endParaRPr lang="zh-CN" altLang="en-US"/>
          </a:p>
        </p:txBody>
      </p:sp>
      <p:sp>
        <p:nvSpPr>
          <p:cNvPr id="3" name="内容占位符 2"/>
          <p:cNvSpPr>
            <a:spLocks noGrp="1"/>
          </p:cNvSpPr>
          <p:nvPr/>
        </p:nvSpPr>
        <p:spPr>
          <a:xfrm>
            <a:off x="838200" y="1318260"/>
            <a:ext cx="5941695" cy="4667250"/>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dirty="0"/>
              <a:t>零样本学习（</a:t>
            </a:r>
            <a:r>
              <a:rPr lang="en-US" altLang="zh-CN" sz="2200" dirty="0"/>
              <a:t>Zero-Shot Learning</a:t>
            </a:r>
            <a:r>
              <a:rPr lang="zh-CN" altLang="en-US" sz="2200" dirty="0"/>
              <a:t>）：模型在</a:t>
            </a:r>
            <a:r>
              <a:rPr lang="zh-CN" altLang="en-US" sz="2200" dirty="0">
                <a:solidFill>
                  <a:srgbClr val="FF0000"/>
                </a:solidFill>
              </a:rPr>
              <a:t>没有特定任务</a:t>
            </a:r>
            <a:r>
              <a:rPr lang="zh-CN" altLang="en-US" sz="2200" dirty="0"/>
              <a:t>的训练数据的情况下，通过提示词提供的上下文信息和任务描述，直接生成符合预期的输出。这依赖于模型在训练过程中学习到的</a:t>
            </a:r>
            <a:r>
              <a:rPr lang="zh-CN" altLang="en-US" sz="2200" dirty="0">
                <a:solidFill>
                  <a:srgbClr val="FF0000"/>
                </a:solidFill>
              </a:rPr>
              <a:t>通用知识</a:t>
            </a:r>
            <a:r>
              <a:rPr lang="zh-CN" altLang="en-US" sz="2200" dirty="0"/>
              <a:t>和</a:t>
            </a:r>
            <a:r>
              <a:rPr lang="zh-CN" altLang="en-US" sz="2200" dirty="0">
                <a:solidFill>
                  <a:srgbClr val="FF0000"/>
                </a:solidFill>
              </a:rPr>
              <a:t>推理能力</a:t>
            </a:r>
            <a:r>
              <a:rPr lang="zh-CN" altLang="en-US" sz="2200" dirty="0"/>
              <a:t>。</a:t>
            </a:r>
            <a:endParaRPr lang="zh-CN" altLang="en-US" sz="2200" dirty="0"/>
          </a:p>
          <a:p>
            <a:r>
              <a:rPr lang="zh-CN" altLang="en-US" sz="2200" dirty="0"/>
              <a:t>少样本学习（</a:t>
            </a:r>
            <a:r>
              <a:rPr lang="en-US" altLang="zh-CN" sz="2200" dirty="0"/>
              <a:t>Few-Shot Learning</a:t>
            </a:r>
            <a:r>
              <a:rPr lang="zh-CN" altLang="en-US" sz="2200" dirty="0"/>
              <a:t>）：模型在仅有少量标注样本的情况下，通过提示词中包含的</a:t>
            </a:r>
            <a:r>
              <a:rPr lang="zh-CN" altLang="en-US" sz="2200" dirty="0">
                <a:solidFill>
                  <a:srgbClr val="FF0000"/>
                </a:solidFill>
              </a:rPr>
              <a:t>少量示例</a:t>
            </a:r>
            <a:r>
              <a:rPr lang="zh-CN" altLang="en-US" sz="2200" dirty="0"/>
              <a:t>，快速学习和适应新任务。模型利用这些示例进行</a:t>
            </a:r>
            <a:r>
              <a:rPr lang="zh-CN" altLang="en-US" sz="2200" dirty="0">
                <a:solidFill>
                  <a:srgbClr val="FF0000"/>
                </a:solidFill>
              </a:rPr>
              <a:t>迁移学习</a:t>
            </a:r>
            <a:r>
              <a:rPr lang="zh-CN" altLang="en-US" sz="2200" dirty="0"/>
              <a:t>，从而在有限的数据条件下实现高性能。</a:t>
            </a:r>
            <a:endParaRPr lang="zh-CN" altLang="en-US" sz="2200" dirty="0"/>
          </a:p>
        </p:txBody>
      </p:sp>
      <p:pic>
        <p:nvPicPr>
          <p:cNvPr id="4" name="图片 3"/>
          <p:cNvPicPr/>
          <p:nvPr/>
        </p:nvPicPr>
        <p:blipFill>
          <a:blip r:embed="rId1"/>
          <a:stretch>
            <a:fillRect/>
          </a:stretch>
        </p:blipFill>
        <p:spPr>
          <a:xfrm>
            <a:off x="6872605" y="0"/>
            <a:ext cx="5319395" cy="6398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solidFill>
                  <a:schemeClr val="tx1"/>
                </a:solidFill>
                <a:latin typeface="微软雅黑" panose="020B0503020204020204" charset="-122"/>
                <a:ea typeface="微软雅黑" panose="020B0503020204020204" charset="-122"/>
              </a:rPr>
              <a:t>上下文学习影响因素</a:t>
            </a:r>
            <a:endParaRPr lang="zh-CN" altLang="en-US">
              <a:latin typeface="微软雅黑" panose="020B0503020204020204" charset="-122"/>
              <a:ea typeface="微软雅黑" panose="020B0503020204020204" charset="-122"/>
            </a:endParaRPr>
          </a:p>
        </p:txBody>
      </p:sp>
      <p:pic>
        <p:nvPicPr>
          <p:cNvPr id="5" name="图片 4" descr="post_object_image_4149162577"/>
          <p:cNvPicPr>
            <a:picLocks noChangeAspect="1"/>
          </p:cNvPicPr>
          <p:nvPr/>
        </p:nvPicPr>
        <p:blipFill>
          <a:blip r:embed="rId1"/>
          <a:stretch>
            <a:fillRect/>
          </a:stretch>
        </p:blipFill>
        <p:spPr>
          <a:xfrm>
            <a:off x="0" y="1042027"/>
            <a:ext cx="12192048" cy="46416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solidFill>
                  <a:schemeClr val="tx1"/>
                </a:solidFill>
                <a:latin typeface="微软雅黑" panose="020B0503020204020204" charset="-122"/>
                <a:ea typeface="微软雅黑" panose="020B0503020204020204" charset="-122"/>
              </a:rPr>
              <a:t>相似</a:t>
            </a:r>
            <a:r>
              <a:rPr lang="zh-CN" altLang="en-US">
                <a:solidFill>
                  <a:schemeClr val="tx1"/>
                </a:solidFill>
                <a:latin typeface="微软雅黑" panose="020B0503020204020204" charset="-122"/>
                <a:ea typeface="微软雅黑" panose="020B0503020204020204" charset="-122"/>
                <a:cs typeface="Arial" panose="020B0604020202020204" pitchFamily="34" charset="0"/>
              </a:rPr>
              <a:t>样本选择</a:t>
            </a:r>
            <a:endParaRPr lang="zh-CN" altLang="en-US">
              <a:latin typeface="微软雅黑" panose="020B0503020204020204" charset="-122"/>
              <a:ea typeface="微软雅黑" panose="020B0503020204020204" charset="-122"/>
            </a:endParaRPr>
          </a:p>
        </p:txBody>
      </p:sp>
      <p:pic>
        <p:nvPicPr>
          <p:cNvPr id="4" name="图片 3" descr="post_object_image_1698919026"/>
          <p:cNvPicPr>
            <a:picLocks noChangeAspect="1"/>
          </p:cNvPicPr>
          <p:nvPr/>
        </p:nvPicPr>
        <p:blipFill>
          <a:blip r:embed="rId1"/>
          <a:stretch>
            <a:fillRect/>
          </a:stretch>
        </p:blipFill>
        <p:spPr>
          <a:xfrm>
            <a:off x="0" y="1150422"/>
            <a:ext cx="12192048" cy="52068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 name="图片 1" descr="post_object_image_3962451785"/>
          <p:cNvPicPr>
            <a:picLocks noChangeAspect="1"/>
          </p:cNvPicPr>
          <p:nvPr/>
        </p:nvPicPr>
        <p:blipFill>
          <a:blip r:embed="rId1"/>
          <a:stretch>
            <a:fillRect/>
          </a:stretch>
        </p:blipFill>
        <p:spPr>
          <a:xfrm>
            <a:off x="1040386" y="1190485"/>
            <a:ext cx="10111277" cy="5667467"/>
          </a:xfrm>
          <a:prstGeom prst="rect">
            <a:avLst/>
          </a:prstGeom>
        </p:spPr>
      </p:pic>
      <p:sp>
        <p:nvSpPr>
          <p:cNvPr id="4"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solidFill>
                  <a:schemeClr val="tx1"/>
                </a:solidFill>
                <a:latin typeface="微软雅黑" panose="020B0503020204020204" charset="-122"/>
                <a:ea typeface="微软雅黑" panose="020B0503020204020204" charset="-122"/>
              </a:rPr>
              <a:t>上下文模板</a:t>
            </a:r>
            <a:endParaRPr lang="zh-CN" altLang="en-US">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1"/>
            </p:custDataLst>
          </p:nvPr>
        </p:nvPicPr>
        <p:blipFill>
          <a:blip r:embed="rId2"/>
          <a:srcRect b="12963"/>
          <a:stretch>
            <a:fillRect/>
          </a:stretch>
        </p:blipFill>
        <p:spPr>
          <a:xfrm>
            <a:off x="618490" y="1512570"/>
            <a:ext cx="10955020" cy="5237480"/>
          </a:xfrm>
          <a:prstGeom prst="rect">
            <a:avLst/>
          </a:prstGeom>
        </p:spPr>
      </p:pic>
      <p:sp>
        <p:nvSpPr>
          <p:cNvPr id="9" name="文本框 8"/>
          <p:cNvSpPr txBox="1"/>
          <p:nvPr/>
        </p:nvSpPr>
        <p:spPr>
          <a:xfrm>
            <a:off x="-5715" y="951865"/>
            <a:ext cx="9889490" cy="521970"/>
          </a:xfrm>
          <a:prstGeom prst="rect">
            <a:avLst/>
          </a:prstGeom>
          <a:noFill/>
        </p:spPr>
        <p:txBody>
          <a:bodyPr wrap="square" rtlCol="0" anchor="t">
            <a:spAutoFit/>
          </a:bodyPr>
          <a:lstStyle/>
          <a:p>
            <a:pPr marL="313055" lvl="1" indent="-313055" algn="l">
              <a:spcBef>
                <a:spcPts val="300"/>
              </a:spcBef>
              <a:buClr>
                <a:srgbClr val="183884"/>
              </a:buClr>
              <a:buSzPct val="80000"/>
              <a:buFont typeface="Wingdings" panose="05000000000000000000" pitchFamily="2" charset="2"/>
              <a:buChar char="n"/>
            </a:pPr>
            <a:r>
              <a:rPr lang="zh-CN" altLang="en-US" sz="2800" b="1" dirty="0">
                <a:solidFill>
                  <a:srgbClr val="1A3489"/>
                </a:solidFill>
                <a:latin typeface="微软雅黑" panose="020B0503020204020204" charset="-122"/>
                <a:ea typeface="微软雅黑" panose="020B0503020204020204" charset="-122"/>
                <a:cs typeface="微软雅黑" panose="020B0503020204020204" charset="-122"/>
              </a:rPr>
              <a:t>通过</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细化模型的推理过程</a:t>
            </a:r>
            <a:r>
              <a:rPr lang="zh-CN" altLang="en-US" sz="2800" b="1" dirty="0">
                <a:solidFill>
                  <a:srgbClr val="1A3489"/>
                </a:solidFill>
                <a:latin typeface="微软雅黑" panose="020B0503020204020204" charset="-122"/>
                <a:ea typeface="微软雅黑" panose="020B0503020204020204" charset="-122"/>
                <a:cs typeface="微软雅黑" panose="020B0503020204020204" charset="-122"/>
              </a:rPr>
              <a:t>，提高模型的下游任务的效果</a:t>
            </a:r>
            <a:endParaRPr lang="zh-CN" altLang="en-US" sz="2800" b="1" dirty="0">
              <a:solidFill>
                <a:srgbClr val="1A3489"/>
              </a:solidFill>
              <a:latin typeface="微软雅黑" panose="020B0503020204020204" charset="-122"/>
              <a:ea typeface="微软雅黑" panose="020B0503020204020204" charset="-122"/>
              <a:cs typeface="微软雅黑" panose="020B0503020204020204" charset="-122"/>
            </a:endParaRPr>
          </a:p>
        </p:txBody>
      </p:sp>
      <p:sp>
        <p:nvSpPr>
          <p:cNvPr id="10" name="标题 1"/>
          <p:cNvSpPr txBox="1"/>
          <p:nvPr>
            <p:custDataLst>
              <p:tags r:id="rId3"/>
            </p:custDataLst>
          </p:nvPr>
        </p:nvSpPr>
        <p:spPr>
          <a:xfrm>
            <a:off x="463137" y="174094"/>
            <a:ext cx="11409315" cy="7364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defRPr/>
            </a:pPr>
            <a:r>
              <a:rPr lang="zh-CN" altLang="en-US" sz="3600" b="1" dirty="0">
                <a:solidFill>
                  <a:schemeClr val="tx1"/>
                </a:solidFill>
                <a:latin typeface="微软雅黑" panose="020B0503020204020204" charset="-122"/>
                <a:ea typeface="微软雅黑" panose="020B0503020204020204" charset="-122"/>
                <a:sym typeface="+mn-ea"/>
              </a:rPr>
              <a:t>大模型范式的新能力：</a:t>
            </a:r>
            <a:r>
              <a:rPr lang="zh-CN" altLang="en-US" sz="3600" b="1" dirty="0">
                <a:solidFill>
                  <a:srgbClr val="C00000"/>
                </a:solidFill>
                <a:latin typeface="微软雅黑" panose="020B0503020204020204" charset="-122"/>
                <a:ea typeface="微软雅黑" panose="020B0503020204020204" charset="-122"/>
                <a:sym typeface="+mn-ea"/>
              </a:rPr>
              <a:t>思维链推理</a:t>
            </a:r>
            <a:endParaRPr lang="zh-CN" altLang="en-US" sz="3600" b="1" dirty="0">
              <a:solidFill>
                <a:srgbClr val="C00000"/>
              </a:solidFill>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lnSpc>
                <a:spcPct val="90000"/>
              </a:lnSpc>
              <a:spcBef>
                <a:spcPct val="0"/>
              </a:spcBef>
              <a:spcAft>
                <a:spcPct val="0"/>
              </a:spcAft>
              <a:defRPr sz="4000" b="1" kern="1200" baseline="0">
                <a:solidFill>
                  <a:schemeClr val="tx1"/>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9pPr>
          </a:lstStyle>
          <a:p>
            <a:r>
              <a:rPr lang="zh-CN" altLang="en-US"/>
              <a:t>思维链</a:t>
            </a:r>
            <a:endParaRPr lang="zh-CN" altLang="en-US"/>
          </a:p>
        </p:txBody>
      </p:sp>
      <p:sp>
        <p:nvSpPr>
          <p:cNvPr id="5" name="内容占位符 4"/>
          <p:cNvSpPr>
            <a:spLocks noGrp="1"/>
          </p:cNvSpPr>
          <p:nvPr/>
        </p:nvSpPr>
        <p:spPr>
          <a:xfrm>
            <a:off x="838200" y="1318260"/>
            <a:ext cx="4813300" cy="4667250"/>
          </a:xfrm>
          <a:prstGeom prst="rect">
            <a:avLst/>
          </a:prstGeom>
          <a:noFill/>
          <a:ln>
            <a:noFill/>
          </a:ln>
        </p:spPr>
        <p:txBody>
          <a:bodyPr vert="horz" wrap="square" lIns="91440" tIns="45720" rIns="91440" bIns="45720" numCol="1" anchor="t" anchorCtr="0" compatLnSpc="1">
            <a:no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t>思维链（</a:t>
            </a:r>
            <a:r>
              <a:rPr lang="en-US" altLang="zh-CN" sz="2200"/>
              <a:t>Chain of Thought</a:t>
            </a:r>
            <a:r>
              <a:rPr lang="zh-CN" altLang="en-US" sz="2200"/>
              <a:t>）是一种</a:t>
            </a:r>
            <a:r>
              <a:rPr lang="en-US" altLang="zh-CN" sz="2200"/>
              <a:t>Prompt</a:t>
            </a:r>
            <a:r>
              <a:rPr lang="zh-CN" altLang="en-US" sz="2200"/>
              <a:t>方法，通过在输入中</a:t>
            </a:r>
            <a:r>
              <a:rPr lang="zh-CN" altLang="en-US" sz="2200">
                <a:solidFill>
                  <a:srgbClr val="FF0000"/>
                </a:solidFill>
              </a:rPr>
              <a:t>逐步引导模型进行推理</a:t>
            </a:r>
            <a:r>
              <a:rPr lang="zh-CN" altLang="en-US" sz="2200"/>
              <a:t>，展示每一步的思维过程，从而帮助模型生成更复杂、连贯和有逻辑的输出。</a:t>
            </a:r>
            <a:endParaRPr lang="zh-CN" altLang="en-US" sz="2200"/>
          </a:p>
          <a:p>
            <a:r>
              <a:rPr lang="zh-CN" altLang="en-US" sz="2200"/>
              <a:t>这种方法要求模型在回答问题或执行任务时，明确</a:t>
            </a:r>
            <a:r>
              <a:rPr lang="zh-CN" altLang="en-US" sz="2200">
                <a:solidFill>
                  <a:srgbClr val="FF0000"/>
                </a:solidFill>
              </a:rPr>
              <a:t>展示其推理步骤</a:t>
            </a:r>
            <a:r>
              <a:rPr lang="zh-CN" altLang="en-US" sz="2200"/>
              <a:t>，确保每一步的推理都基于前一步的结论，最终得出合乎逻辑的结果。</a:t>
            </a:r>
            <a:endParaRPr lang="zh-CN" altLang="en-US" sz="2200"/>
          </a:p>
          <a:p>
            <a:r>
              <a:rPr lang="zh-CN" altLang="en-US" sz="2200"/>
              <a:t>思维链提示能够显著提升模型在复杂推理任务中的表现，使其输出更具</a:t>
            </a:r>
            <a:r>
              <a:rPr lang="zh-CN" altLang="en-US" sz="2200">
                <a:solidFill>
                  <a:srgbClr val="FF0000"/>
                </a:solidFill>
              </a:rPr>
              <a:t>说服力</a:t>
            </a:r>
            <a:r>
              <a:rPr lang="zh-CN" altLang="en-US" sz="2200"/>
              <a:t>和</a:t>
            </a:r>
            <a:r>
              <a:rPr lang="zh-CN" altLang="en-US" sz="2200">
                <a:solidFill>
                  <a:srgbClr val="FF0000"/>
                </a:solidFill>
              </a:rPr>
              <a:t>可解释性</a:t>
            </a:r>
            <a:r>
              <a:rPr lang="zh-CN" altLang="en-US" sz="2200"/>
              <a:t>。</a:t>
            </a:r>
            <a:endParaRPr lang="zh-CN" altLang="en-US" sz="2200"/>
          </a:p>
        </p:txBody>
      </p:sp>
      <p:pic>
        <p:nvPicPr>
          <p:cNvPr id="6" name="Picture -2147482619"/>
          <p:cNvPicPr>
            <a:picLocks noChangeAspect="1"/>
          </p:cNvPicPr>
          <p:nvPr/>
        </p:nvPicPr>
        <p:blipFill>
          <a:blip r:embed="rId1"/>
          <a:stretch>
            <a:fillRect/>
          </a:stretch>
        </p:blipFill>
        <p:spPr>
          <a:xfrm>
            <a:off x="5651500" y="2023110"/>
            <a:ext cx="6480175" cy="32575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t>思维链</a:t>
            </a:r>
            <a:endParaRPr lang="zh-CN" altLang="en-US"/>
          </a:p>
        </p:txBody>
      </p:sp>
      <p:sp>
        <p:nvSpPr>
          <p:cNvPr id="3" name="内容占位符 2"/>
          <p:cNvSpPr>
            <a:spLocks noGrp="1"/>
          </p:cNvSpPr>
          <p:nvPr/>
        </p:nvSpPr>
        <p:spPr>
          <a:xfrm>
            <a:off x="838200" y="1318260"/>
            <a:ext cx="10417175" cy="4667250"/>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200">
                <a:latin typeface="微软雅黑" panose="020B0503020204020204" charset="-122"/>
                <a:cs typeface="微软雅黑" panose="020B0503020204020204" charset="-122"/>
              </a:rPr>
              <a:t>Auto-CoT</a:t>
            </a:r>
            <a:r>
              <a:rPr lang="zh-CN" altLang="en-US" sz="2200">
                <a:latin typeface="微软雅黑" panose="020B0503020204020204" charset="-122"/>
                <a:cs typeface="微软雅黑" panose="020B0503020204020204" charset="-122"/>
              </a:rPr>
              <a:t>对具有多样性的问题进行采样，并生成推理链来构建演示。</a:t>
            </a:r>
            <a:endParaRPr lang="zh-CN" altLang="en-US" sz="2200">
              <a:latin typeface="微软雅黑" panose="020B0503020204020204" charset="-122"/>
              <a:cs typeface="微软雅黑" panose="020B0503020204020204" charset="-122"/>
            </a:endParaRPr>
          </a:p>
          <a:p>
            <a:pPr lvl="1"/>
            <a:r>
              <a:rPr lang="zh-CN" altLang="en-US" sz="1800">
                <a:latin typeface="微软雅黑" panose="020B0503020204020204" charset="-122"/>
                <a:cs typeface="微软雅黑" panose="020B0503020204020204" charset="-122"/>
              </a:rPr>
              <a:t>（</a:t>
            </a:r>
            <a:r>
              <a:rPr lang="en-US" altLang="zh-CN" sz="1800">
                <a:latin typeface="微软雅黑" panose="020B0503020204020204" charset="-122"/>
                <a:cs typeface="微软雅黑" panose="020B0503020204020204" charset="-122"/>
              </a:rPr>
              <a:t>1</a:t>
            </a:r>
            <a:r>
              <a:rPr lang="zh-CN" altLang="en-US" sz="1800">
                <a:latin typeface="微软雅黑" panose="020B0503020204020204" charset="-122"/>
                <a:cs typeface="微软雅黑" panose="020B0503020204020204" charset="-122"/>
              </a:rPr>
              <a:t>）</a:t>
            </a:r>
            <a:r>
              <a:rPr lang="zh-CN" altLang="en-US" sz="1800">
                <a:solidFill>
                  <a:srgbClr val="FF0000"/>
                </a:solidFill>
                <a:latin typeface="微软雅黑" panose="020B0503020204020204" charset="-122"/>
                <a:cs typeface="微软雅黑" panose="020B0503020204020204" charset="-122"/>
              </a:rPr>
              <a:t>问题聚类</a:t>
            </a:r>
            <a:r>
              <a:rPr lang="zh-CN" altLang="en-US" sz="1800">
                <a:latin typeface="微软雅黑" panose="020B0503020204020204" charset="-122"/>
                <a:cs typeface="微软雅黑" panose="020B0503020204020204" charset="-122"/>
              </a:rPr>
              <a:t>：将给定问题划分为几个聚类</a:t>
            </a:r>
            <a:endParaRPr lang="zh-CN" altLang="en-US" sz="1800">
              <a:latin typeface="微软雅黑" panose="020B0503020204020204" charset="-122"/>
              <a:cs typeface="微软雅黑" panose="020B0503020204020204" charset="-122"/>
            </a:endParaRPr>
          </a:p>
          <a:p>
            <a:pPr lvl="1"/>
            <a:r>
              <a:rPr lang="zh-CN" altLang="en-US" sz="1800">
                <a:latin typeface="微软雅黑" panose="020B0503020204020204" charset="-122"/>
                <a:cs typeface="微软雅黑" panose="020B0503020204020204" charset="-122"/>
              </a:rPr>
              <a:t>（</a:t>
            </a:r>
            <a:r>
              <a:rPr lang="en-US" altLang="zh-CN" sz="1800">
                <a:latin typeface="微软雅黑" panose="020B0503020204020204" charset="-122"/>
                <a:cs typeface="微软雅黑" panose="020B0503020204020204" charset="-122"/>
              </a:rPr>
              <a:t>2</a:t>
            </a:r>
            <a:r>
              <a:rPr lang="zh-CN" altLang="en-US" sz="1800">
                <a:latin typeface="微软雅黑" panose="020B0503020204020204" charset="-122"/>
                <a:cs typeface="微软雅黑" panose="020B0503020204020204" charset="-122"/>
              </a:rPr>
              <a:t>）</a:t>
            </a:r>
            <a:r>
              <a:rPr lang="zh-CN" altLang="en-US" sz="1800">
                <a:solidFill>
                  <a:srgbClr val="FF0000"/>
                </a:solidFill>
                <a:latin typeface="微软雅黑" panose="020B0503020204020204" charset="-122"/>
                <a:cs typeface="微软雅黑" panose="020B0503020204020204" charset="-122"/>
              </a:rPr>
              <a:t>演示抽样</a:t>
            </a:r>
            <a:r>
              <a:rPr lang="zh-CN" altLang="en-US" sz="1800">
                <a:latin typeface="微软雅黑" panose="020B0503020204020204" charset="-122"/>
                <a:cs typeface="微软雅黑" panose="020B0503020204020204" charset="-122"/>
              </a:rPr>
              <a:t>：从每组中选择具有代表性的问题，使用</a:t>
            </a:r>
            <a:r>
              <a:rPr lang="en-US" altLang="zh-CN" sz="1800">
                <a:latin typeface="微软雅黑" panose="020B0503020204020204" charset="-122"/>
                <a:cs typeface="微软雅黑" panose="020B0503020204020204" charset="-122"/>
              </a:rPr>
              <a:t>Zero-Shot-CoT </a:t>
            </a:r>
            <a:r>
              <a:rPr lang="zh-CN" altLang="en-US" sz="1800">
                <a:latin typeface="微软雅黑" panose="020B0503020204020204" charset="-122"/>
                <a:cs typeface="微软雅黑" panose="020B0503020204020204" charset="-122"/>
              </a:rPr>
              <a:t>生成其推理链</a:t>
            </a:r>
            <a:endParaRPr lang="zh-CN" altLang="en-US" sz="1800">
              <a:latin typeface="微软雅黑" panose="020B0503020204020204" charset="-122"/>
              <a:cs typeface="微软雅黑" panose="020B0503020204020204" charset="-122"/>
            </a:endParaRPr>
          </a:p>
        </p:txBody>
      </p:sp>
      <p:pic>
        <p:nvPicPr>
          <p:cNvPr id="5" name="图片 4"/>
          <p:cNvPicPr/>
          <p:nvPr/>
        </p:nvPicPr>
        <p:blipFill>
          <a:blip r:embed="rId1"/>
          <a:stretch>
            <a:fillRect/>
          </a:stretch>
        </p:blipFill>
        <p:spPr>
          <a:xfrm>
            <a:off x="1481167" y="2538682"/>
            <a:ext cx="9131300" cy="43192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sym typeface="+mn-ea"/>
              </a:rPr>
              <a:t>思维链</a:t>
            </a:r>
            <a:endParaRPr lang="zh-CN" altLang="en-US"/>
          </a:p>
        </p:txBody>
      </p:sp>
      <p:sp>
        <p:nvSpPr>
          <p:cNvPr id="3" name="内容占位符 2"/>
          <p:cNvSpPr>
            <a:spLocks noGrp="1"/>
          </p:cNvSpPr>
          <p:nvPr/>
        </p:nvSpPr>
        <p:spPr>
          <a:xfrm>
            <a:off x="838200" y="1318161"/>
            <a:ext cx="10515600" cy="4667003"/>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solidFill>
                  <a:srgbClr val="FF0000"/>
                </a:solidFill>
              </a:rPr>
              <a:t>自我一致性</a:t>
            </a:r>
            <a:r>
              <a:rPr lang="zh-CN" altLang="en-US" sz="2200"/>
              <a:t>旨在</a:t>
            </a:r>
            <a:r>
              <a:rPr lang="en-US" altLang="zh-CN" sz="2200"/>
              <a:t>“</a:t>
            </a:r>
            <a:r>
              <a:rPr lang="zh-CN" altLang="en-US" sz="2200">
                <a:solidFill>
                  <a:schemeClr val="tx1"/>
                </a:solidFill>
              </a:rPr>
              <a:t>替换链式思维提示中使用的天真贪婪解码方法</a:t>
            </a:r>
            <a:r>
              <a:rPr lang="en-US" altLang="zh-CN" sz="2200"/>
              <a:t>”</a:t>
            </a:r>
            <a:r>
              <a:rPr lang="zh-CN" altLang="en-US" sz="2200"/>
              <a:t>。</a:t>
            </a:r>
            <a:endParaRPr lang="zh-CN" altLang="en-US" sz="2200"/>
          </a:p>
          <a:p>
            <a:r>
              <a:rPr lang="zh-CN" altLang="en-US" sz="2200"/>
              <a:t>其想法是通过少样本</a:t>
            </a:r>
            <a:r>
              <a:rPr lang="en-US" altLang="zh-CN" sz="2200"/>
              <a:t> CoT </a:t>
            </a:r>
            <a:r>
              <a:rPr lang="zh-CN" altLang="en-US" sz="2200">
                <a:solidFill>
                  <a:srgbClr val="FF0000"/>
                </a:solidFill>
              </a:rPr>
              <a:t>采样多个不同的推理路径</a:t>
            </a:r>
            <a:r>
              <a:rPr lang="zh-CN" altLang="en-US" sz="2200"/>
              <a:t>，并使用生成结果选择</a:t>
            </a:r>
            <a:r>
              <a:rPr lang="zh-CN" altLang="en-US" sz="2200">
                <a:solidFill>
                  <a:srgbClr val="FF0000"/>
                </a:solidFill>
              </a:rPr>
              <a:t>最一致的答案</a:t>
            </a:r>
            <a:r>
              <a:rPr lang="zh-CN" altLang="en-US" sz="2200"/>
              <a:t>。有助于提高</a:t>
            </a:r>
            <a:r>
              <a:rPr lang="en-US" altLang="zh-CN" sz="2200"/>
              <a:t> CoT </a:t>
            </a:r>
            <a:r>
              <a:rPr lang="zh-CN" altLang="en-US" sz="2200"/>
              <a:t>提示在涉及算术和常识推理的任务中的性能。</a:t>
            </a:r>
            <a:endParaRPr lang="zh-CN" altLang="en-US" sz="2200"/>
          </a:p>
        </p:txBody>
      </p:sp>
      <p:pic>
        <p:nvPicPr>
          <p:cNvPr id="4" name="图片 3"/>
          <p:cNvPicPr/>
          <p:nvPr/>
        </p:nvPicPr>
        <p:blipFill>
          <a:blip r:embed="rId1"/>
          <a:stretch>
            <a:fillRect/>
          </a:stretch>
        </p:blipFill>
        <p:spPr>
          <a:xfrm>
            <a:off x="1791677" y="2564591"/>
            <a:ext cx="8608695" cy="41128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9" name="直接连接符 18"/>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t>思维树</a:t>
            </a:r>
            <a:endParaRPr lang="zh-CN" altLang="en-US"/>
          </a:p>
        </p:txBody>
      </p:sp>
      <p:sp>
        <p:nvSpPr>
          <p:cNvPr id="3" name="内容占位符 2"/>
          <p:cNvSpPr>
            <a:spLocks noGrp="1"/>
          </p:cNvSpPr>
          <p:nvPr/>
        </p:nvSpPr>
        <p:spPr>
          <a:xfrm>
            <a:off x="838200" y="1318260"/>
            <a:ext cx="10417175" cy="4667250"/>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t>思维树（</a:t>
            </a:r>
            <a:r>
              <a:rPr lang="en-US" altLang="zh-CN" sz="2200"/>
              <a:t>Tree of Thought</a:t>
            </a:r>
            <a:r>
              <a:rPr lang="zh-CN" altLang="en-US" sz="2200"/>
              <a:t>）是一种将</a:t>
            </a:r>
            <a:r>
              <a:rPr lang="zh-CN" altLang="en-US" sz="2200">
                <a:solidFill>
                  <a:srgbClr val="FF0000"/>
                </a:solidFill>
              </a:rPr>
              <a:t>思维链</a:t>
            </a:r>
            <a:r>
              <a:rPr lang="zh-CN" altLang="en-US" sz="2200"/>
              <a:t>扩展为</a:t>
            </a:r>
            <a:r>
              <a:rPr lang="zh-CN" altLang="en-US" sz="2200">
                <a:solidFill>
                  <a:srgbClr val="FF0000"/>
                </a:solidFill>
              </a:rPr>
              <a:t>树状结构</a:t>
            </a:r>
            <a:r>
              <a:rPr lang="zh-CN" altLang="en-US" sz="2200"/>
              <a:t>的方法。</a:t>
            </a:r>
            <a:endParaRPr lang="zh-CN" altLang="en-US" sz="2200"/>
          </a:p>
          <a:p>
            <a:r>
              <a:rPr lang="zh-CN" altLang="en-US" sz="2200"/>
              <a:t>允许模型在推理过程中探索多个分支和可能性，每个分支代表一种可能的推理路径，模型可以在不同路径之间进行比较和选择，最终选择最优路径，适用于多步骤决策和复杂问题求解。</a:t>
            </a:r>
            <a:endParaRPr lang="zh-CN" altLang="en-US" sz="2200"/>
          </a:p>
        </p:txBody>
      </p:sp>
      <p:pic>
        <p:nvPicPr>
          <p:cNvPr id="4" name="图片 3"/>
          <p:cNvPicPr/>
          <p:nvPr/>
        </p:nvPicPr>
        <p:blipFill>
          <a:blip r:embed="rId1"/>
          <a:stretch>
            <a:fillRect/>
          </a:stretch>
        </p:blipFill>
        <p:spPr>
          <a:xfrm>
            <a:off x="1537970" y="3066415"/>
            <a:ext cx="8037830" cy="36683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sym typeface="+mn-ea"/>
              </a:rPr>
              <a:t>思维树</a:t>
            </a:r>
            <a:endParaRPr lang="zh-CN" altLang="en-US"/>
          </a:p>
        </p:txBody>
      </p:sp>
      <p:sp>
        <p:nvSpPr>
          <p:cNvPr id="10" name="内容占位符 2"/>
          <p:cNvSpPr>
            <a:spLocks noGrp="1"/>
          </p:cNvSpPr>
          <p:nvPr/>
        </p:nvSpPr>
        <p:spPr>
          <a:xfrm>
            <a:off x="838200" y="1095276"/>
            <a:ext cx="10515600" cy="4667003"/>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t>任务说明：</a:t>
            </a:r>
            <a:r>
              <a:rPr lang="en-US" altLang="zh-CN" sz="2200"/>
              <a:t>24</a:t>
            </a:r>
            <a:r>
              <a:rPr lang="zh-CN" altLang="en-US" sz="2200"/>
              <a:t>点游戏是一个数学推理挑战，目标是使用</a:t>
            </a:r>
            <a:r>
              <a:rPr lang="en-US" altLang="zh-CN" sz="2200"/>
              <a:t>4</a:t>
            </a:r>
            <a:r>
              <a:rPr lang="zh-CN" altLang="en-US" sz="2200"/>
              <a:t>个数字和基本的四则运算（</a:t>
            </a:r>
            <a:r>
              <a:rPr lang="en-US" altLang="zh-CN" sz="2200"/>
              <a:t>+-*/</a:t>
            </a:r>
            <a:r>
              <a:rPr lang="zh-CN" altLang="en-US" sz="2200"/>
              <a:t>）得到</a:t>
            </a:r>
            <a:r>
              <a:rPr lang="en-US" altLang="zh-CN" sz="2200"/>
              <a:t>24</a:t>
            </a:r>
            <a:r>
              <a:rPr lang="zh-CN" altLang="en-US" sz="2200"/>
              <a:t>。</a:t>
            </a:r>
            <a:endParaRPr lang="zh-CN" altLang="en-US" sz="2200"/>
          </a:p>
        </p:txBody>
      </p:sp>
      <p:pic>
        <p:nvPicPr>
          <p:cNvPr id="11" name="图片 10"/>
          <p:cNvPicPr/>
          <p:nvPr/>
        </p:nvPicPr>
        <p:blipFill>
          <a:blip r:embed="rId1"/>
          <a:stretch>
            <a:fillRect/>
          </a:stretch>
        </p:blipFill>
        <p:spPr>
          <a:xfrm>
            <a:off x="317500" y="2004695"/>
            <a:ext cx="11370945" cy="40697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t>潜在</a:t>
            </a:r>
            <a:r>
              <a:rPr lang="zh-CN" altLang="en-US">
                <a:solidFill>
                  <a:schemeClr val="tx1"/>
                </a:solidFill>
                <a:latin typeface="微软雅黑" panose="020B0503020204020204" charset="-122"/>
                <a:ea typeface="微软雅黑" panose="020B0503020204020204" charset="-122"/>
                <a:cs typeface="Arial" panose="020B0604020202020204" pitchFamily="34" charset="0"/>
              </a:rPr>
              <a:t>推理</a:t>
            </a:r>
            <a:endParaRPr lang="zh-CN" altLang="en-US"/>
          </a:p>
        </p:txBody>
      </p:sp>
      <p:sp>
        <p:nvSpPr>
          <p:cNvPr id="3" name="内容占位符 2"/>
          <p:cNvSpPr>
            <a:spLocks noGrp="1"/>
          </p:cNvSpPr>
          <p:nvPr/>
        </p:nvSpPr>
        <p:spPr>
          <a:xfrm>
            <a:off x="838200" y="1095276"/>
            <a:ext cx="10515600" cy="1692389"/>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t>一种全新的</a:t>
            </a:r>
            <a:r>
              <a:rPr lang="zh-CN" altLang="en-US" sz="2200">
                <a:cs typeface="Arial" panose="020B0604020202020204" pitchFamily="34" charset="0"/>
              </a:rPr>
              <a:t>推理范式，相比</a:t>
            </a:r>
            <a:r>
              <a:rPr lang="en-US" altLang="zh-CN" sz="2200">
                <a:cs typeface="Arial" panose="020B0604020202020204" pitchFamily="34" charset="0"/>
              </a:rPr>
              <a:t>CoT</a:t>
            </a:r>
            <a:r>
              <a:rPr lang="zh-CN" altLang="en-US" sz="2200">
                <a:cs typeface="Arial" panose="020B0604020202020204" pitchFamily="34" charset="0"/>
              </a:rPr>
              <a:t>在</a:t>
            </a:r>
            <a:r>
              <a:rPr lang="en-US" altLang="zh-CN" sz="2200">
                <a:cs typeface="Arial" panose="020B0604020202020204" pitchFamily="34" charset="0"/>
              </a:rPr>
              <a:t>token</a:t>
            </a:r>
            <a:r>
              <a:rPr lang="zh-CN" altLang="en-US" sz="2200">
                <a:cs typeface="Arial" panose="020B0604020202020204" pitchFamily="34" charset="0"/>
              </a:rPr>
              <a:t>空间中进行自然语言推理，潜在推理范式将推理过程内化为向量在潜在空间中的计算，例如</a:t>
            </a:r>
            <a:r>
              <a:rPr lang="en-US" altLang="zh-CN" sz="2200">
                <a:cs typeface="Arial" panose="020B0604020202020204" pitchFamily="34" charset="0"/>
              </a:rPr>
              <a:t>Hao</a:t>
            </a:r>
            <a:r>
              <a:rPr lang="zh-CN" altLang="en-US" sz="2200">
                <a:cs typeface="Arial" panose="020B0604020202020204" pitchFamily="34" charset="0"/>
              </a:rPr>
              <a:t>等将</a:t>
            </a:r>
            <a:r>
              <a:rPr lang="en-US" altLang="zh-CN" sz="2200">
                <a:cs typeface="Arial" panose="020B0604020202020204" pitchFamily="34" charset="0"/>
              </a:rPr>
              <a:t>LLM</a:t>
            </a:r>
            <a:r>
              <a:rPr lang="zh-CN" altLang="en-US" sz="2200">
                <a:cs typeface="Arial" panose="020B0604020202020204" pitchFamily="34" charset="0"/>
              </a:rPr>
              <a:t>输出的</a:t>
            </a:r>
            <a:r>
              <a:rPr lang="en-US" altLang="zh-CN" sz="2200">
                <a:cs typeface="Arial" panose="020B0604020202020204" pitchFamily="34" charset="0"/>
              </a:rPr>
              <a:t>hidden_state</a:t>
            </a:r>
            <a:r>
              <a:rPr lang="zh-CN" altLang="en-US" sz="2200">
                <a:cs typeface="Arial" panose="020B0604020202020204" pitchFamily="34" charset="0"/>
              </a:rPr>
              <a:t>作为</a:t>
            </a:r>
            <a:r>
              <a:rPr lang="en-US" altLang="zh-CN" sz="2200">
                <a:cs typeface="Arial" panose="020B0604020202020204" pitchFamily="34" charset="0"/>
              </a:rPr>
              <a:t>embedding</a:t>
            </a:r>
            <a:r>
              <a:rPr lang="zh-CN" altLang="en-US" sz="2200">
                <a:cs typeface="Arial" panose="020B0604020202020204" pitchFamily="34" charset="0"/>
              </a:rPr>
              <a:t>继续输入模型，实现连续的思维状态建模，在逻辑推理数据集上表现甚至优于显式</a:t>
            </a:r>
            <a:r>
              <a:rPr lang="en-US" altLang="zh-CN" sz="2200">
                <a:cs typeface="Arial" panose="020B0604020202020204" pitchFamily="34" charset="0"/>
              </a:rPr>
              <a:t>CoT</a:t>
            </a:r>
            <a:endParaRPr lang="zh-CN" altLang="en-US" sz="2200"/>
          </a:p>
        </p:txBody>
      </p:sp>
      <p:pic>
        <p:nvPicPr>
          <p:cNvPr id="6" name="图片 5" descr="post_object_image_3685236216"/>
          <p:cNvPicPr>
            <a:picLocks noChangeAspect="1"/>
          </p:cNvPicPr>
          <p:nvPr/>
        </p:nvPicPr>
        <p:blipFill>
          <a:blip r:embed="rId1"/>
          <a:stretch>
            <a:fillRect/>
          </a:stretch>
        </p:blipFill>
        <p:spPr>
          <a:xfrm>
            <a:off x="1534901" y="2787677"/>
            <a:ext cx="8534400" cy="35337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a:t>潜在推理</a:t>
            </a:r>
            <a:endParaRPr lang="zh-CN" altLang="en-US"/>
          </a:p>
        </p:txBody>
      </p:sp>
      <p:sp>
        <p:nvSpPr>
          <p:cNvPr id="3" name="内容占位符 2"/>
          <p:cNvSpPr>
            <a:spLocks noGrp="1"/>
          </p:cNvSpPr>
          <p:nvPr/>
        </p:nvSpPr>
        <p:spPr>
          <a:xfrm>
            <a:off x="891636" y="1095276"/>
            <a:ext cx="10515600" cy="1692389"/>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a:t>在潜在推理范式下，使用显式</a:t>
            </a:r>
            <a:r>
              <a:rPr lang="en-US" altLang="zh-CN" sz="2200"/>
              <a:t>CoT</a:t>
            </a:r>
            <a:r>
              <a:rPr lang="zh-CN" altLang="en-US" sz="2200"/>
              <a:t>对潜在推理训练形成监督信号也成为了当前研究的热点，文本压缩，知识蒸馏，空间对齐等技术也相继被应用，对大模型潜在推理进行监督</a:t>
            </a:r>
            <a:endParaRPr lang="zh-CN" altLang="en-US" sz="2200"/>
          </a:p>
        </p:txBody>
      </p:sp>
      <p:pic>
        <p:nvPicPr>
          <p:cNvPr id="4" name="图片 3" descr="post_object_image_2549167511"/>
          <p:cNvPicPr>
            <a:picLocks noChangeAspect="1"/>
          </p:cNvPicPr>
          <p:nvPr/>
        </p:nvPicPr>
        <p:blipFill>
          <a:blip r:embed="rId1"/>
          <a:stretch>
            <a:fillRect/>
          </a:stretch>
        </p:blipFill>
        <p:spPr>
          <a:xfrm>
            <a:off x="1479111" y="2567389"/>
            <a:ext cx="3662224" cy="2800851"/>
          </a:xfrm>
          <a:prstGeom prst="rect">
            <a:avLst/>
          </a:prstGeom>
        </p:spPr>
      </p:pic>
      <p:pic>
        <p:nvPicPr>
          <p:cNvPr id="7" name="图片 6" descr="post_object_image_1904554706"/>
          <p:cNvPicPr>
            <a:picLocks noChangeAspect="1"/>
          </p:cNvPicPr>
          <p:nvPr/>
        </p:nvPicPr>
        <p:blipFill>
          <a:blip r:embed="rId2"/>
          <a:stretch>
            <a:fillRect/>
          </a:stretch>
        </p:blipFill>
        <p:spPr>
          <a:xfrm>
            <a:off x="6063849" y="2536438"/>
            <a:ext cx="4451009" cy="28627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en-US" altLang="zh-CN">
                <a:sym typeface="+mn-ea"/>
              </a:rPr>
              <a:t>OpenAI o1</a:t>
            </a:r>
            <a:endParaRPr lang="zh-CN" altLang="en-US"/>
          </a:p>
        </p:txBody>
      </p:sp>
      <p:sp>
        <p:nvSpPr>
          <p:cNvPr id="3" name="内容占位符 2"/>
          <p:cNvSpPr>
            <a:spLocks noGrp="1"/>
          </p:cNvSpPr>
          <p:nvPr/>
        </p:nvSpPr>
        <p:spPr>
          <a:xfrm>
            <a:off x="838200" y="1318161"/>
            <a:ext cx="10515600" cy="4667003"/>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200" dirty="0">
                <a:sym typeface="+mn-ea"/>
              </a:rPr>
              <a:t>OpenAI</a:t>
            </a:r>
            <a:r>
              <a:rPr lang="zh-CN" altLang="en-US" sz="2200" dirty="0">
                <a:sym typeface="+mn-ea"/>
              </a:rPr>
              <a:t>推出</a:t>
            </a:r>
            <a:r>
              <a:rPr lang="en-US" altLang="zh-CN" sz="2200" dirty="0">
                <a:sym typeface="+mn-ea"/>
              </a:rPr>
              <a:t>o1</a:t>
            </a:r>
            <a:r>
              <a:rPr lang="zh-CN" altLang="en-US" sz="2200" dirty="0">
                <a:sym typeface="+mn-ea"/>
              </a:rPr>
              <a:t>模型，在数学、代码等复杂推理能力上取得巨大进步。</a:t>
            </a:r>
            <a:r>
              <a:rPr lang="en-US" altLang="zh-CN" sz="2200" dirty="0">
                <a:sym typeface="+mn-ea"/>
              </a:rPr>
              <a:t>	</a:t>
            </a:r>
            <a:endParaRPr lang="zh-CN" altLang="en-US" sz="2200" dirty="0">
              <a:sym typeface="+mn-ea"/>
            </a:endParaRPr>
          </a:p>
          <a:p>
            <a:pPr lvl="1"/>
            <a:r>
              <a:rPr lang="zh-CN" altLang="en-US" sz="1800" dirty="0">
                <a:sym typeface="+mn-ea"/>
              </a:rPr>
              <a:t>在美国数学奥林匹克竞赛（</a:t>
            </a:r>
            <a:r>
              <a:rPr lang="en-US" altLang="zh-CN" sz="1800" dirty="0">
                <a:sym typeface="+mn-ea"/>
              </a:rPr>
              <a:t>AIME</a:t>
            </a:r>
            <a:r>
              <a:rPr lang="zh-CN" altLang="en-US" sz="1800" dirty="0">
                <a:sym typeface="+mn-ea"/>
              </a:rPr>
              <a:t>）资格赛中跻身美国前</a:t>
            </a:r>
            <a:r>
              <a:rPr lang="en-US" altLang="zh-CN" sz="1800" dirty="0">
                <a:sym typeface="+mn-ea"/>
              </a:rPr>
              <a:t>500</a:t>
            </a:r>
            <a:r>
              <a:rPr lang="zh-CN" altLang="en-US" sz="1800" dirty="0">
                <a:sym typeface="+mn-ea"/>
              </a:rPr>
              <a:t>名学生之列。</a:t>
            </a:r>
            <a:endParaRPr lang="zh-CN" altLang="en-US" sz="1800" dirty="0">
              <a:sym typeface="+mn-ea"/>
            </a:endParaRPr>
          </a:p>
          <a:p>
            <a:pPr lvl="1"/>
            <a:r>
              <a:rPr lang="zh-CN" altLang="en-US" sz="1800" dirty="0">
                <a:sym typeface="+mn-ea"/>
              </a:rPr>
              <a:t>在</a:t>
            </a:r>
            <a:r>
              <a:rPr lang="en-US" altLang="zh-CN" sz="1800" dirty="0" err="1">
                <a:sym typeface="+mn-ea"/>
              </a:rPr>
              <a:t>Codeforces</a:t>
            </a:r>
            <a:r>
              <a:rPr lang="zh-CN" altLang="en-US" sz="1800" dirty="0">
                <a:sym typeface="+mn-ea"/>
              </a:rPr>
              <a:t>编程决赛中排名第</a:t>
            </a:r>
            <a:r>
              <a:rPr lang="en-US" altLang="zh-CN" sz="1800" dirty="0">
                <a:sym typeface="+mn-ea"/>
              </a:rPr>
              <a:t>89</a:t>
            </a:r>
            <a:r>
              <a:rPr lang="zh-CN" altLang="en-US" sz="1800" dirty="0">
                <a:sym typeface="+mn-ea"/>
              </a:rPr>
              <a:t>个百分位，达到蓝名水平。</a:t>
            </a:r>
            <a:endParaRPr lang="zh-CN" altLang="en-US" sz="1800" dirty="0">
              <a:sym typeface="+mn-ea"/>
            </a:endParaRPr>
          </a:p>
          <a:p>
            <a:pPr lvl="1"/>
            <a:r>
              <a:rPr lang="zh-CN" altLang="en-US" sz="1800" dirty="0">
                <a:sym typeface="+mn-ea"/>
              </a:rPr>
              <a:t>在物理、生物、化学问题的基准（</a:t>
            </a:r>
            <a:r>
              <a:rPr lang="en-US" altLang="zh-CN" sz="1800" dirty="0">
                <a:sym typeface="+mn-ea"/>
              </a:rPr>
              <a:t>GPQA</a:t>
            </a:r>
            <a:r>
              <a:rPr lang="zh-CN" altLang="en-US" sz="1800" dirty="0">
                <a:sym typeface="+mn-ea"/>
              </a:rPr>
              <a:t>）上超过了人类博士水平的准确性。</a:t>
            </a:r>
            <a:endParaRPr lang="zh-CN" altLang="en-US" sz="1800" dirty="0"/>
          </a:p>
          <a:p>
            <a:endParaRPr lang="zh-CN" altLang="en-US" sz="1800" dirty="0"/>
          </a:p>
          <a:p>
            <a:endParaRPr lang="zh-CN" altLang="en-US" sz="1800" dirty="0"/>
          </a:p>
        </p:txBody>
      </p:sp>
      <p:pic>
        <p:nvPicPr>
          <p:cNvPr id="11" name="图片 10"/>
          <p:cNvPicPr/>
          <p:nvPr/>
        </p:nvPicPr>
        <p:blipFill>
          <a:blip r:embed="rId1"/>
          <a:stretch>
            <a:fillRect/>
          </a:stretch>
        </p:blipFill>
        <p:spPr>
          <a:xfrm>
            <a:off x="1497965" y="2897505"/>
            <a:ext cx="8117840" cy="38976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en-US" altLang="zh-CN">
                <a:sym typeface="+mn-ea"/>
              </a:rPr>
              <a:t>OpenAI o1</a:t>
            </a:r>
            <a:endParaRPr lang="zh-CN" altLang="en-US">
              <a:sym typeface="+mn-ea"/>
            </a:endParaRPr>
          </a:p>
        </p:txBody>
      </p:sp>
      <p:sp>
        <p:nvSpPr>
          <p:cNvPr id="12" name="内容占位符 11"/>
          <p:cNvSpPr>
            <a:spLocks noGrp="1"/>
          </p:cNvSpPr>
          <p:nvPr/>
        </p:nvSpPr>
        <p:spPr>
          <a:xfrm>
            <a:off x="838200" y="1318161"/>
            <a:ext cx="10515600" cy="4667003"/>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dirty="0"/>
              <a:t>《快思慢想》：将大脑的运作方式分为</a:t>
            </a:r>
            <a:r>
              <a:rPr lang="en-US" altLang="zh-CN" sz="2200" dirty="0">
                <a:solidFill>
                  <a:srgbClr val="FF0000"/>
                </a:solidFill>
              </a:rPr>
              <a:t>System 1</a:t>
            </a:r>
            <a:r>
              <a:rPr lang="zh-CN" altLang="en-US" sz="2200" dirty="0">
                <a:solidFill>
                  <a:srgbClr val="FF0000"/>
                </a:solidFill>
              </a:rPr>
              <a:t>快思考</a:t>
            </a:r>
            <a:r>
              <a:rPr lang="zh-CN" altLang="en-US" sz="2200" dirty="0"/>
              <a:t>与</a:t>
            </a:r>
            <a:r>
              <a:rPr lang="en-US" altLang="zh-CN" sz="2200" dirty="0">
                <a:solidFill>
                  <a:srgbClr val="FF0000"/>
                </a:solidFill>
              </a:rPr>
              <a:t>System 2</a:t>
            </a:r>
            <a:r>
              <a:rPr lang="zh-CN" altLang="en-US" sz="2200" dirty="0">
                <a:solidFill>
                  <a:srgbClr val="FF0000"/>
                </a:solidFill>
              </a:rPr>
              <a:t>慢思考</a:t>
            </a:r>
            <a:r>
              <a:rPr lang="zh-CN" altLang="en-US" sz="2200" dirty="0"/>
              <a:t>。</a:t>
            </a:r>
            <a:endParaRPr lang="zh-CN" altLang="en-US" sz="2200" dirty="0"/>
          </a:p>
          <a:p>
            <a:r>
              <a:rPr lang="zh-CN" altLang="en-US" sz="2200" dirty="0"/>
              <a:t>过去所有</a:t>
            </a:r>
            <a:r>
              <a:rPr lang="en-US" sz="2200" dirty="0"/>
              <a:t>LLM</a:t>
            </a:r>
            <a:r>
              <a:rPr lang="zh-CN" altLang="en-US" sz="2200" dirty="0"/>
              <a:t>都是在使用</a:t>
            </a:r>
            <a:r>
              <a:rPr lang="en-US" altLang="zh-CN" sz="2200" dirty="0"/>
              <a:t>System 1</a:t>
            </a:r>
            <a:r>
              <a:rPr lang="zh-CN" altLang="en-US" sz="2200" dirty="0"/>
              <a:t>的快思考模式来回答所有给它们的问题。</a:t>
            </a:r>
            <a:endParaRPr lang="zh-CN" altLang="en-US" sz="2200" dirty="0"/>
          </a:p>
          <a:p>
            <a:r>
              <a:rPr lang="zh-CN" altLang="en-US" sz="2200" dirty="0"/>
              <a:t>这可以解决</a:t>
            </a:r>
            <a:r>
              <a:rPr lang="en-US" altLang="zh-CN" sz="2200" dirty="0"/>
              <a:t>95%</a:t>
            </a:r>
            <a:r>
              <a:rPr lang="zh-CN" altLang="en-US" sz="2200" dirty="0"/>
              <a:t>的问题，但是还有</a:t>
            </a:r>
            <a:r>
              <a:rPr lang="en-US" altLang="zh-CN" sz="2200" dirty="0"/>
              <a:t>5%</a:t>
            </a:r>
            <a:r>
              <a:rPr lang="zh-CN" altLang="en-US" sz="2200" dirty="0"/>
              <a:t>的问题需要使用</a:t>
            </a:r>
            <a:r>
              <a:rPr lang="en-US" altLang="zh-CN" sz="2200" dirty="0"/>
              <a:t>System 2</a:t>
            </a:r>
            <a:r>
              <a:rPr lang="zh-CN" altLang="en-US" sz="2200" dirty="0"/>
              <a:t>的慢思考来解决。</a:t>
            </a:r>
            <a:endParaRPr lang="zh-CN" altLang="en-US" sz="2200" dirty="0"/>
          </a:p>
          <a:p>
            <a:endParaRPr lang="en-US" altLang="zh-CN" sz="2200" dirty="0"/>
          </a:p>
          <a:p>
            <a:endParaRPr lang="en-US" altLang="zh-CN" sz="2200" dirty="0"/>
          </a:p>
        </p:txBody>
      </p:sp>
      <p:pic>
        <p:nvPicPr>
          <p:cNvPr id="14" name="图片 13"/>
          <p:cNvPicPr/>
          <p:nvPr/>
        </p:nvPicPr>
        <p:blipFill>
          <a:blip r:embed="rId1"/>
          <a:stretch>
            <a:fillRect/>
          </a:stretch>
        </p:blipFill>
        <p:spPr>
          <a:xfrm>
            <a:off x="3013710" y="2738755"/>
            <a:ext cx="6929755" cy="39852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en-US" altLang="zh-CN">
                <a:sym typeface="+mn-ea"/>
              </a:rPr>
              <a:t>OpenAI o1</a:t>
            </a:r>
            <a:endParaRPr lang="zh-CN" altLang="en-US">
              <a:sym typeface="+mn-ea"/>
            </a:endParaRPr>
          </a:p>
        </p:txBody>
      </p:sp>
      <p:sp>
        <p:nvSpPr>
          <p:cNvPr id="12" name="内容占位符 11"/>
          <p:cNvSpPr>
            <a:spLocks noGrp="1"/>
          </p:cNvSpPr>
          <p:nvPr/>
        </p:nvSpPr>
        <p:spPr>
          <a:xfrm>
            <a:off x="838200" y="1318161"/>
            <a:ext cx="10515600" cy="4667003"/>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dirty="0">
                <a:solidFill>
                  <a:srgbClr val="FF0000"/>
                </a:solidFill>
              </a:rPr>
              <a:t>自动化</a:t>
            </a:r>
            <a:r>
              <a:rPr lang="en-US" altLang="zh-CN" sz="2200" dirty="0" err="1">
                <a:solidFill>
                  <a:srgbClr val="FF0000"/>
                </a:solidFill>
              </a:rPr>
              <a:t>CoT</a:t>
            </a:r>
            <a:r>
              <a:rPr lang="zh-CN" altLang="en-US" sz="2200" dirty="0"/>
              <a:t>：让模型在训练阶段就可以自动学习推理思维链，不需要人工进行干预，从而把大问题进行拆解和解答，提升模型回复的准确率。</a:t>
            </a:r>
            <a:endParaRPr lang="en-US" altLang="zh-CN" sz="2200" dirty="0"/>
          </a:p>
          <a:p>
            <a:r>
              <a:rPr lang="zh-CN" altLang="en-US" sz="2200" dirty="0">
                <a:solidFill>
                  <a:srgbClr val="FF0000"/>
                </a:solidFill>
              </a:rPr>
              <a:t>过程监督</a:t>
            </a:r>
            <a:r>
              <a:rPr lang="zh-CN" altLang="en-US" sz="2200" dirty="0"/>
              <a:t>：则让模型不再局限于学习结果数据，像人类一样学习每个步骤的思考过程。</a:t>
            </a:r>
            <a:endParaRPr lang="en-US" altLang="zh-CN" sz="2200" dirty="0"/>
          </a:p>
          <a:p>
            <a:r>
              <a:rPr lang="en-US" altLang="zh-CN" sz="2200" dirty="0">
                <a:solidFill>
                  <a:srgbClr val="FF0000"/>
                </a:solidFill>
              </a:rPr>
              <a:t>Post-Training Scaling Laws</a:t>
            </a:r>
            <a:r>
              <a:rPr lang="zh-CN" altLang="en-US" sz="2200" dirty="0"/>
              <a:t>：意味着</a:t>
            </a:r>
            <a:r>
              <a:rPr lang="en-US" altLang="zh-CN" sz="2200" dirty="0"/>
              <a:t>AI</a:t>
            </a:r>
            <a:r>
              <a:rPr lang="zh-CN" altLang="en-US" sz="2200" dirty="0"/>
              <a:t>能力的提升不再局限于预训练阶段，还可以通过在</a:t>
            </a:r>
            <a:r>
              <a:rPr lang="en-US" altLang="zh-CN" sz="2200" dirty="0"/>
              <a:t>Post-Training</a:t>
            </a:r>
            <a:r>
              <a:rPr lang="zh-CN" altLang="en-US" sz="2200" dirty="0"/>
              <a:t>阶段中提升</a:t>
            </a:r>
            <a:r>
              <a:rPr lang="en-US" altLang="zh-CN" sz="2200" dirty="0"/>
              <a:t>RL</a:t>
            </a:r>
            <a:r>
              <a:rPr lang="zh-CN" altLang="en-US" sz="2200" dirty="0"/>
              <a:t>训练的探索时间和增加模型推理</a:t>
            </a:r>
            <a:r>
              <a:rPr lang="en-US" altLang="zh-CN" sz="2200" dirty="0"/>
              <a:t>+</a:t>
            </a:r>
            <a:r>
              <a:rPr lang="zh-CN" altLang="en-US" sz="2200" dirty="0"/>
              <a:t>思考时间来实现性能提升，即</a:t>
            </a:r>
            <a:r>
              <a:rPr lang="en-US" altLang="zh-CN" sz="2200" dirty="0"/>
              <a:t>Post-Training Scaling Laws</a:t>
            </a:r>
            <a:r>
              <a:rPr lang="zh-CN" altLang="en-US" sz="2200" dirty="0"/>
              <a:t>。</a:t>
            </a:r>
            <a:endParaRPr lang="zh-CN" altLang="en-US" sz="2200" dirty="0"/>
          </a:p>
        </p:txBody>
      </p:sp>
      <p:pic>
        <p:nvPicPr>
          <p:cNvPr id="3" name="图片 2"/>
          <p:cNvPicPr/>
          <p:nvPr/>
        </p:nvPicPr>
        <p:blipFill>
          <a:blip r:embed="rId1"/>
          <a:stretch>
            <a:fillRect/>
          </a:stretch>
        </p:blipFill>
        <p:spPr>
          <a:xfrm>
            <a:off x="1086485" y="4157345"/>
            <a:ext cx="6939915" cy="27006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en-US" altLang="zh-CN" dirty="0">
                <a:sym typeface="+mn-ea"/>
              </a:rPr>
              <a:t>Agent</a:t>
            </a:r>
            <a:endParaRPr lang="zh-CN" altLang="en-US" dirty="0">
              <a:sym typeface="+mn-ea"/>
            </a:endParaRPr>
          </a:p>
        </p:txBody>
      </p:sp>
      <p:pic>
        <p:nvPicPr>
          <p:cNvPr id="3" name="图片 2"/>
          <p:cNvPicPr>
            <a:picLocks noChangeAspect="1"/>
          </p:cNvPicPr>
          <p:nvPr/>
        </p:nvPicPr>
        <p:blipFill>
          <a:blip r:embed="rId1"/>
          <a:stretch>
            <a:fillRect/>
          </a:stretch>
        </p:blipFill>
        <p:spPr>
          <a:xfrm>
            <a:off x="1059287" y="2430211"/>
            <a:ext cx="10073425" cy="4253695"/>
          </a:xfrm>
          <a:prstGeom prst="rect">
            <a:avLst/>
          </a:prstGeom>
        </p:spPr>
      </p:pic>
      <p:sp>
        <p:nvSpPr>
          <p:cNvPr id="6" name="内容占位符 11"/>
          <p:cNvSpPr>
            <a:spLocks noGrp="1"/>
          </p:cNvSpPr>
          <p:nvPr/>
        </p:nvSpPr>
        <p:spPr>
          <a:xfrm>
            <a:off x="838200" y="1318162"/>
            <a:ext cx="10463011" cy="1019354"/>
          </a:xfrm>
          <a:prstGeom prst="rect">
            <a:avLst/>
          </a:prstGeom>
          <a:noFill/>
          <a:ln>
            <a:noFill/>
          </a:ln>
        </p:spPr>
        <p:txBody>
          <a:bodyPr vert="horz" wrap="square" lIns="91440" tIns="45720" rIns="91440" bIns="45720" numCol="1" rtlCol="0" anchor="t" anchorCtr="0" compatLnSpc="1">
            <a:normAutofit fontScale="92500" lnSpcReduction="20000"/>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200" dirty="0" err="1"/>
              <a:t>CoT</a:t>
            </a:r>
            <a:r>
              <a:rPr lang="en-US" altLang="zh-CN" sz="2200" dirty="0"/>
              <a:t> </a:t>
            </a:r>
            <a:r>
              <a:rPr lang="zh-CN" altLang="en-US" sz="2200" dirty="0"/>
              <a:t>与思维树显著提升了大模型的推理能力，但模型仍然停留在“只思考、不行动”的静态生成范式。只有同时具备推理与行动能力，模型才能形成最小可行的大语言模型智能体（</a:t>
            </a:r>
            <a:r>
              <a:rPr lang="en-US" altLang="zh-CN" sz="2200" dirty="0"/>
              <a:t>LLM Agent</a:t>
            </a:r>
            <a:r>
              <a:rPr lang="zh-CN" altLang="en-US" sz="2200" dirty="0"/>
              <a:t>）。</a:t>
            </a:r>
            <a:endParaRPr lang="en-US" altLang="zh-CN"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en-US" altLang="zh-CN" dirty="0" err="1">
                <a:sym typeface="+mn-ea"/>
              </a:rPr>
              <a:t>ReAct</a:t>
            </a:r>
            <a:endParaRPr lang="zh-CN" altLang="en-US" dirty="0">
              <a:sym typeface="+mn-ea"/>
            </a:endParaRPr>
          </a:p>
        </p:txBody>
      </p:sp>
      <p:sp>
        <p:nvSpPr>
          <p:cNvPr id="3" name="矩形 2"/>
          <p:cNvSpPr/>
          <p:nvPr/>
        </p:nvSpPr>
        <p:spPr>
          <a:xfrm>
            <a:off x="1001749" y="3190561"/>
            <a:ext cx="1004023" cy="463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LLM</a:t>
            </a:r>
            <a:endParaRPr lang="zh-CN" altLang="en-US" sz="3200" dirty="0"/>
          </a:p>
        </p:txBody>
      </p:sp>
      <p:sp>
        <p:nvSpPr>
          <p:cNvPr id="7" name="文本框 6"/>
          <p:cNvSpPr txBox="1"/>
          <p:nvPr/>
        </p:nvSpPr>
        <p:spPr>
          <a:xfrm>
            <a:off x="3126822" y="2948005"/>
            <a:ext cx="1558937" cy="830997"/>
          </a:xfrm>
          <a:prstGeom prst="rect">
            <a:avLst/>
          </a:prstGeom>
          <a:noFill/>
        </p:spPr>
        <p:txBody>
          <a:bodyPr wrap="square" rtlCol="0">
            <a:spAutoFit/>
          </a:bodyPr>
          <a:lstStyle/>
          <a:p>
            <a:r>
              <a:rPr lang="en-US" altLang="zh-CN" sz="2400" dirty="0"/>
              <a:t>Reasoning</a:t>
            </a:r>
            <a:endParaRPr lang="en-US" altLang="zh-CN" sz="2400" dirty="0"/>
          </a:p>
          <a:p>
            <a:r>
              <a:rPr lang="en-US" altLang="zh-CN" sz="2400" dirty="0"/>
              <a:t>traces</a:t>
            </a:r>
            <a:endParaRPr lang="zh-CN" altLang="en-US" sz="2400" dirty="0"/>
          </a:p>
        </p:txBody>
      </p:sp>
      <p:cxnSp>
        <p:nvCxnSpPr>
          <p:cNvPr id="9" name="连接符: 曲线 8"/>
          <p:cNvCxnSpPr>
            <a:stCxn id="3" idx="0"/>
            <a:endCxn id="7" idx="0"/>
          </p:cNvCxnSpPr>
          <p:nvPr/>
        </p:nvCxnSpPr>
        <p:spPr>
          <a:xfrm rot="5400000" flipH="1" flipV="1">
            <a:off x="2583749" y="1868019"/>
            <a:ext cx="242555" cy="2402530"/>
          </a:xfrm>
          <a:prstGeom prst="curvedConnector3">
            <a:avLst>
              <a:gd name="adj1" fmla="val 19424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连接符: 曲线 12"/>
          <p:cNvCxnSpPr>
            <a:stCxn id="7" idx="2"/>
            <a:endCxn id="3" idx="2"/>
          </p:cNvCxnSpPr>
          <p:nvPr/>
        </p:nvCxnSpPr>
        <p:spPr>
          <a:xfrm rot="5400000" flipH="1">
            <a:off x="2667576" y="2490213"/>
            <a:ext cx="74900" cy="2402530"/>
          </a:xfrm>
          <a:prstGeom prst="curvedConnector3">
            <a:avLst>
              <a:gd name="adj1" fmla="val -305207"/>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125770" y="5172655"/>
            <a:ext cx="940182" cy="498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LLM</a:t>
            </a:r>
            <a:endParaRPr lang="zh-CN" altLang="en-US" sz="3200" dirty="0"/>
          </a:p>
        </p:txBody>
      </p:sp>
      <p:sp>
        <p:nvSpPr>
          <p:cNvPr id="16" name="矩形 15"/>
          <p:cNvSpPr/>
          <p:nvPr/>
        </p:nvSpPr>
        <p:spPr>
          <a:xfrm>
            <a:off x="3401930" y="5172654"/>
            <a:ext cx="940182" cy="498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ENV</a:t>
            </a:r>
            <a:endParaRPr lang="zh-CN" altLang="en-US" sz="3200" dirty="0"/>
          </a:p>
        </p:txBody>
      </p:sp>
      <p:cxnSp>
        <p:nvCxnSpPr>
          <p:cNvPr id="20" name="连接符: 曲线 19"/>
          <p:cNvCxnSpPr>
            <a:stCxn id="16" idx="2"/>
            <a:endCxn id="4" idx="2"/>
          </p:cNvCxnSpPr>
          <p:nvPr/>
        </p:nvCxnSpPr>
        <p:spPr>
          <a:xfrm rot="5400000">
            <a:off x="2733941" y="4533130"/>
            <a:ext cx="1" cy="2276160"/>
          </a:xfrm>
          <a:prstGeom prst="curved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21"/>
          <p:cNvCxnSpPr>
            <a:stCxn id="4" idx="0"/>
            <a:endCxn id="16" idx="0"/>
          </p:cNvCxnSpPr>
          <p:nvPr/>
        </p:nvCxnSpPr>
        <p:spPr>
          <a:xfrm rot="5400000" flipH="1" flipV="1">
            <a:off x="2733941" y="4034575"/>
            <a:ext cx="1" cy="2276160"/>
          </a:xfrm>
          <a:prstGeom prst="curved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726283" y="3777849"/>
            <a:ext cx="1137878" cy="461665"/>
          </a:xfrm>
          <a:prstGeom prst="rect">
            <a:avLst/>
          </a:prstGeom>
          <a:noFill/>
        </p:spPr>
        <p:txBody>
          <a:bodyPr wrap="square" rtlCol="0">
            <a:spAutoFit/>
          </a:bodyPr>
          <a:lstStyle/>
          <a:p>
            <a:r>
              <a:rPr lang="en-US" altLang="zh-CN" sz="2400" dirty="0"/>
              <a:t>Actions</a:t>
            </a:r>
            <a:endParaRPr lang="zh-CN" altLang="en-US" sz="2400" dirty="0"/>
          </a:p>
        </p:txBody>
      </p:sp>
      <p:sp>
        <p:nvSpPr>
          <p:cNvPr id="26" name="文本框 25"/>
          <p:cNvSpPr txBox="1"/>
          <p:nvPr/>
        </p:nvSpPr>
        <p:spPr>
          <a:xfrm>
            <a:off x="1774287" y="5906295"/>
            <a:ext cx="1880216" cy="461665"/>
          </a:xfrm>
          <a:prstGeom prst="rect">
            <a:avLst/>
          </a:prstGeom>
          <a:noFill/>
        </p:spPr>
        <p:txBody>
          <a:bodyPr wrap="square" rtlCol="0">
            <a:spAutoFit/>
          </a:bodyPr>
          <a:lstStyle/>
          <a:p>
            <a:r>
              <a:rPr lang="en-US" altLang="zh-CN" sz="2400" dirty="0"/>
              <a:t>Observations</a:t>
            </a:r>
            <a:endParaRPr lang="zh-CN" altLang="en-US" sz="2400" dirty="0"/>
          </a:p>
        </p:txBody>
      </p:sp>
      <p:sp>
        <p:nvSpPr>
          <p:cNvPr id="27" name="文本框 26"/>
          <p:cNvSpPr txBox="1"/>
          <p:nvPr/>
        </p:nvSpPr>
        <p:spPr>
          <a:xfrm>
            <a:off x="1925024" y="3996742"/>
            <a:ext cx="1859962" cy="461665"/>
          </a:xfrm>
          <a:prstGeom prst="rect">
            <a:avLst/>
          </a:prstGeom>
          <a:noFill/>
        </p:spPr>
        <p:txBody>
          <a:bodyPr wrap="square" rtlCol="0">
            <a:spAutoFit/>
          </a:bodyPr>
          <a:lstStyle/>
          <a:p>
            <a:r>
              <a:rPr lang="en-US" altLang="zh-CN" sz="2400">
                <a:solidFill>
                  <a:srgbClr val="FF0000"/>
                </a:solidFill>
              </a:rPr>
              <a:t>Reason Only</a:t>
            </a:r>
            <a:endParaRPr lang="en-US" altLang="zh-CN" sz="2400" dirty="0">
              <a:solidFill>
                <a:srgbClr val="FF0000"/>
              </a:solidFill>
            </a:endParaRPr>
          </a:p>
        </p:txBody>
      </p:sp>
      <p:sp>
        <p:nvSpPr>
          <p:cNvPr id="28" name="文本框 27"/>
          <p:cNvSpPr txBox="1"/>
          <p:nvPr/>
        </p:nvSpPr>
        <p:spPr>
          <a:xfrm>
            <a:off x="2129795" y="6341569"/>
            <a:ext cx="1381678" cy="461665"/>
          </a:xfrm>
          <a:prstGeom prst="rect">
            <a:avLst/>
          </a:prstGeom>
          <a:noFill/>
        </p:spPr>
        <p:txBody>
          <a:bodyPr wrap="square" rtlCol="0">
            <a:spAutoFit/>
          </a:bodyPr>
          <a:lstStyle/>
          <a:p>
            <a:r>
              <a:rPr lang="en-US" altLang="zh-CN" sz="2400" dirty="0">
                <a:solidFill>
                  <a:srgbClr val="FF0000"/>
                </a:solidFill>
              </a:rPr>
              <a:t>Act Only</a:t>
            </a:r>
            <a:endParaRPr lang="en-US" altLang="zh-CN" sz="2400" dirty="0">
              <a:solidFill>
                <a:srgbClr val="FF0000"/>
              </a:solidFill>
            </a:endParaRPr>
          </a:p>
        </p:txBody>
      </p:sp>
      <p:sp>
        <p:nvSpPr>
          <p:cNvPr id="42" name="矩形 41"/>
          <p:cNvSpPr/>
          <p:nvPr/>
        </p:nvSpPr>
        <p:spPr>
          <a:xfrm>
            <a:off x="7964509" y="4411594"/>
            <a:ext cx="885017" cy="494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LLM</a:t>
            </a:r>
            <a:endParaRPr lang="zh-CN" altLang="en-US" sz="3200" dirty="0"/>
          </a:p>
        </p:txBody>
      </p:sp>
      <p:sp>
        <p:nvSpPr>
          <p:cNvPr id="43" name="文本框 42"/>
          <p:cNvSpPr txBox="1"/>
          <p:nvPr/>
        </p:nvSpPr>
        <p:spPr>
          <a:xfrm>
            <a:off x="10089584" y="4273542"/>
            <a:ext cx="1548914" cy="830997"/>
          </a:xfrm>
          <a:prstGeom prst="rect">
            <a:avLst/>
          </a:prstGeom>
          <a:noFill/>
        </p:spPr>
        <p:txBody>
          <a:bodyPr wrap="square" rtlCol="0">
            <a:spAutoFit/>
          </a:bodyPr>
          <a:lstStyle/>
          <a:p>
            <a:r>
              <a:rPr lang="en-US" altLang="zh-CN" sz="2400" dirty="0"/>
              <a:t>Reasoning</a:t>
            </a:r>
            <a:endParaRPr lang="en-US" altLang="zh-CN" sz="2400" dirty="0"/>
          </a:p>
          <a:p>
            <a:r>
              <a:rPr lang="en-US" altLang="zh-CN" sz="2400" dirty="0"/>
              <a:t>traces</a:t>
            </a:r>
            <a:endParaRPr lang="zh-CN" altLang="en-US" sz="2400" dirty="0"/>
          </a:p>
        </p:txBody>
      </p:sp>
      <p:cxnSp>
        <p:nvCxnSpPr>
          <p:cNvPr id="44" name="连接符: 曲线 43"/>
          <p:cNvCxnSpPr>
            <a:stCxn id="42" idx="0"/>
            <a:endCxn id="43" idx="0"/>
          </p:cNvCxnSpPr>
          <p:nvPr/>
        </p:nvCxnSpPr>
        <p:spPr>
          <a:xfrm rot="5400000" flipH="1" flipV="1">
            <a:off x="9566504" y="3114058"/>
            <a:ext cx="138051" cy="2457023"/>
          </a:xfrm>
          <a:prstGeom prst="curvedConnector3">
            <a:avLst>
              <a:gd name="adj1" fmla="val 26559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连接符: 曲线 44"/>
          <p:cNvCxnSpPr>
            <a:stCxn id="43" idx="2"/>
            <a:endCxn id="42" idx="2"/>
          </p:cNvCxnSpPr>
          <p:nvPr/>
        </p:nvCxnSpPr>
        <p:spPr>
          <a:xfrm rot="5400000" flipH="1">
            <a:off x="9625561" y="3687204"/>
            <a:ext cx="19937" cy="2457023"/>
          </a:xfrm>
          <a:prstGeom prst="curvedConnector3">
            <a:avLst>
              <a:gd name="adj1" fmla="val -1146612"/>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5549578" y="4404288"/>
            <a:ext cx="885015" cy="528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ENV</a:t>
            </a:r>
            <a:endParaRPr lang="zh-CN" altLang="en-US" sz="3200" dirty="0"/>
          </a:p>
        </p:txBody>
      </p:sp>
      <p:cxnSp>
        <p:nvCxnSpPr>
          <p:cNvPr id="49" name="连接符: 曲线 48"/>
          <p:cNvCxnSpPr>
            <a:stCxn id="42" idx="0"/>
            <a:endCxn id="47" idx="0"/>
          </p:cNvCxnSpPr>
          <p:nvPr/>
        </p:nvCxnSpPr>
        <p:spPr>
          <a:xfrm rot="16200000" flipV="1">
            <a:off x="7195899" y="3200475"/>
            <a:ext cx="7306" cy="2414932"/>
          </a:xfrm>
          <a:prstGeom prst="curvedConnector3">
            <a:avLst>
              <a:gd name="adj1" fmla="val 322893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连接符: 曲线 50"/>
          <p:cNvCxnSpPr>
            <a:stCxn id="47" idx="2"/>
            <a:endCxn id="42" idx="2"/>
          </p:cNvCxnSpPr>
          <p:nvPr/>
        </p:nvCxnSpPr>
        <p:spPr>
          <a:xfrm rot="5400000" flipH="1" flipV="1">
            <a:off x="7185931" y="3711901"/>
            <a:ext cx="27242" cy="2414932"/>
          </a:xfrm>
          <a:prstGeom prst="curvedConnector3">
            <a:avLst>
              <a:gd name="adj1" fmla="val -839145"/>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2188720" y="4589778"/>
            <a:ext cx="1208807" cy="461665"/>
          </a:xfrm>
          <a:prstGeom prst="rect">
            <a:avLst/>
          </a:prstGeom>
          <a:noFill/>
        </p:spPr>
        <p:txBody>
          <a:bodyPr wrap="square" rtlCol="0">
            <a:spAutoFit/>
          </a:bodyPr>
          <a:lstStyle/>
          <a:p>
            <a:r>
              <a:rPr lang="en-US" altLang="zh-CN" sz="2400" dirty="0"/>
              <a:t>Actions</a:t>
            </a:r>
            <a:endParaRPr lang="zh-CN" altLang="en-US" sz="2400" dirty="0"/>
          </a:p>
        </p:txBody>
      </p:sp>
      <p:sp>
        <p:nvSpPr>
          <p:cNvPr id="53" name="文本框 52"/>
          <p:cNvSpPr txBox="1"/>
          <p:nvPr/>
        </p:nvSpPr>
        <p:spPr>
          <a:xfrm>
            <a:off x="6366381" y="5411972"/>
            <a:ext cx="1839603" cy="461665"/>
          </a:xfrm>
          <a:prstGeom prst="rect">
            <a:avLst/>
          </a:prstGeom>
          <a:noFill/>
        </p:spPr>
        <p:txBody>
          <a:bodyPr wrap="square" rtlCol="0">
            <a:spAutoFit/>
          </a:bodyPr>
          <a:lstStyle/>
          <a:p>
            <a:r>
              <a:rPr lang="en-US" altLang="zh-CN" sz="2400" dirty="0"/>
              <a:t>Observations</a:t>
            </a:r>
            <a:endParaRPr lang="zh-CN" altLang="en-US" sz="2400" dirty="0"/>
          </a:p>
        </p:txBody>
      </p:sp>
      <p:sp>
        <p:nvSpPr>
          <p:cNvPr id="54" name="文本框 53"/>
          <p:cNvSpPr txBox="1"/>
          <p:nvPr/>
        </p:nvSpPr>
        <p:spPr>
          <a:xfrm>
            <a:off x="7971290" y="5890955"/>
            <a:ext cx="1152727" cy="461665"/>
          </a:xfrm>
          <a:prstGeom prst="rect">
            <a:avLst/>
          </a:prstGeom>
          <a:noFill/>
        </p:spPr>
        <p:txBody>
          <a:bodyPr wrap="square" rtlCol="0">
            <a:spAutoFit/>
          </a:bodyPr>
          <a:lstStyle/>
          <a:p>
            <a:r>
              <a:rPr lang="en-US" altLang="zh-CN" sz="2400" dirty="0" err="1">
                <a:solidFill>
                  <a:srgbClr val="FF0000"/>
                </a:solidFill>
              </a:rPr>
              <a:t>ReAct</a:t>
            </a:r>
            <a:endParaRPr lang="en-US" altLang="zh-CN" sz="2400" dirty="0">
              <a:solidFill>
                <a:srgbClr val="FF0000"/>
              </a:solidFill>
            </a:endParaRPr>
          </a:p>
        </p:txBody>
      </p:sp>
      <p:sp>
        <p:nvSpPr>
          <p:cNvPr id="70" name="内容占位符 2"/>
          <p:cNvSpPr>
            <a:spLocks noGrp="1"/>
          </p:cNvSpPr>
          <p:nvPr/>
        </p:nvSpPr>
        <p:spPr>
          <a:xfrm>
            <a:off x="306684" y="1088793"/>
            <a:ext cx="2994928" cy="1545260"/>
          </a:xfrm>
          <a:prstGeom prst="rect">
            <a:avLst/>
          </a:prstGeom>
          <a:noFill/>
          <a:ln>
            <a:noFill/>
          </a:ln>
        </p:spPr>
        <p:txBody>
          <a:bodyPr vert="horz" wrap="square" lIns="91440" tIns="45720" rIns="91440" bIns="45720" numCol="1" rtlCol="0" anchor="t" anchorCtr="0" compatLnSpc="1">
            <a:normAutofit lnSpcReduction="10000"/>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200" dirty="0"/>
              <a:t>Reason-only</a:t>
            </a:r>
            <a:r>
              <a:rPr lang="en-US" altLang="zh-CN" sz="2200" dirty="0">
                <a:sym typeface="+mn-ea"/>
              </a:rPr>
              <a:t>	</a:t>
            </a:r>
            <a:endParaRPr lang="zh-CN" altLang="en-US" sz="2200" dirty="0">
              <a:sym typeface="+mn-ea"/>
            </a:endParaRPr>
          </a:p>
          <a:p>
            <a:pPr lvl="1"/>
            <a:r>
              <a:rPr lang="zh-CN" altLang="en-US" sz="1800" dirty="0">
                <a:sym typeface="+mn-ea"/>
              </a:rPr>
              <a:t>仅生成推理轨迹</a:t>
            </a:r>
            <a:endParaRPr lang="zh-CN" altLang="en-US" sz="1800" dirty="0">
              <a:sym typeface="+mn-ea"/>
            </a:endParaRPr>
          </a:p>
          <a:p>
            <a:pPr lvl="1"/>
            <a:r>
              <a:rPr lang="zh-CN" altLang="en-US" sz="1800" dirty="0">
                <a:sym typeface="+mn-ea"/>
              </a:rPr>
              <a:t>仅生成推理轨迹</a:t>
            </a:r>
            <a:endParaRPr lang="zh-CN" altLang="en-US" sz="1800" dirty="0">
              <a:sym typeface="+mn-ea"/>
            </a:endParaRPr>
          </a:p>
          <a:p>
            <a:pPr lvl="1"/>
            <a:r>
              <a:rPr lang="zh-CN" altLang="en-US" sz="1800" dirty="0">
                <a:sym typeface="+mn-ea"/>
              </a:rPr>
              <a:t>属于静态文本推理</a:t>
            </a:r>
            <a:endParaRPr lang="zh-CN" altLang="en-US" sz="1800" dirty="0"/>
          </a:p>
          <a:p>
            <a:endParaRPr lang="zh-CN" altLang="en-US" sz="1800" dirty="0"/>
          </a:p>
          <a:p>
            <a:endParaRPr lang="zh-CN" altLang="en-US" sz="1800" dirty="0"/>
          </a:p>
        </p:txBody>
      </p:sp>
      <p:sp>
        <p:nvSpPr>
          <p:cNvPr id="71" name="内容占位符 2"/>
          <p:cNvSpPr>
            <a:spLocks noGrp="1"/>
          </p:cNvSpPr>
          <p:nvPr/>
        </p:nvSpPr>
        <p:spPr>
          <a:xfrm>
            <a:off x="3784985" y="1094770"/>
            <a:ext cx="3139325" cy="1545260"/>
          </a:xfrm>
          <a:prstGeom prst="rect">
            <a:avLst/>
          </a:prstGeom>
          <a:noFill/>
          <a:ln>
            <a:noFill/>
          </a:ln>
        </p:spPr>
        <p:txBody>
          <a:bodyPr vert="horz" wrap="square" lIns="91440" tIns="45720" rIns="91440" bIns="45720" numCol="1" rtlCol="0" anchor="t" anchorCtr="0" compatLnSpc="1">
            <a:normAutofit fontScale="92500"/>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200" dirty="0"/>
              <a:t>Act-only</a:t>
            </a:r>
            <a:r>
              <a:rPr lang="en-US" altLang="zh-CN" sz="2200" dirty="0">
                <a:sym typeface="+mn-ea"/>
              </a:rPr>
              <a:t>	</a:t>
            </a:r>
            <a:endParaRPr lang="zh-CN" altLang="en-US" sz="2200" dirty="0">
              <a:sym typeface="+mn-ea"/>
            </a:endParaRPr>
          </a:p>
          <a:p>
            <a:pPr lvl="1"/>
            <a:r>
              <a:rPr lang="zh-CN" altLang="en-US" sz="1800" dirty="0">
                <a:sym typeface="+mn-ea"/>
              </a:rPr>
              <a:t>可执行操作与调用工具</a:t>
            </a:r>
            <a:endParaRPr lang="zh-CN" altLang="en-US" sz="1800" dirty="0">
              <a:sym typeface="+mn-ea"/>
            </a:endParaRPr>
          </a:p>
          <a:p>
            <a:pPr lvl="1"/>
            <a:r>
              <a:rPr lang="zh-CN" altLang="en-US" sz="1800" dirty="0">
                <a:sym typeface="+mn-ea"/>
              </a:rPr>
              <a:t>缺乏显式推理与规划</a:t>
            </a:r>
            <a:endParaRPr lang="zh-CN" altLang="en-US" sz="1800" dirty="0">
              <a:sym typeface="+mn-ea"/>
            </a:endParaRPr>
          </a:p>
          <a:p>
            <a:pPr lvl="1"/>
            <a:r>
              <a:rPr lang="zh-CN" altLang="en-US" sz="1800" dirty="0"/>
              <a:t>行为不可解释、不稳定</a:t>
            </a:r>
            <a:endParaRPr lang="zh-CN" altLang="en-US" sz="1800" dirty="0"/>
          </a:p>
          <a:p>
            <a:endParaRPr lang="zh-CN" altLang="en-US" sz="1800" dirty="0"/>
          </a:p>
          <a:p>
            <a:endParaRPr lang="zh-CN" altLang="en-US" sz="1800" dirty="0"/>
          </a:p>
        </p:txBody>
      </p:sp>
      <p:sp>
        <p:nvSpPr>
          <p:cNvPr id="72" name="内容占位符 2"/>
          <p:cNvSpPr>
            <a:spLocks noGrp="1"/>
          </p:cNvSpPr>
          <p:nvPr/>
        </p:nvSpPr>
        <p:spPr>
          <a:xfrm>
            <a:off x="7511741" y="1095920"/>
            <a:ext cx="4005511" cy="1545260"/>
          </a:xfrm>
          <a:prstGeom prst="rect">
            <a:avLst/>
          </a:prstGeom>
          <a:noFill/>
          <a:ln>
            <a:noFill/>
          </a:ln>
        </p:spPr>
        <p:txBody>
          <a:bodyPr vert="horz" wrap="square" lIns="91440" tIns="45720" rIns="91440" bIns="45720" numCol="1" rtlCol="0" anchor="t" anchorCtr="0" compatLnSpc="1">
            <a:normAutofit lnSpcReduction="10000"/>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200" dirty="0" err="1"/>
              <a:t>ReAct</a:t>
            </a:r>
            <a:r>
              <a:rPr lang="zh-CN" altLang="en-US" sz="2200" dirty="0"/>
              <a:t>（</a:t>
            </a:r>
            <a:r>
              <a:rPr lang="en-US" altLang="zh-CN" sz="2200" dirty="0"/>
              <a:t>Reason + Act</a:t>
            </a:r>
            <a:r>
              <a:rPr lang="zh-CN" altLang="en-US" sz="2200" dirty="0"/>
              <a:t>）</a:t>
            </a:r>
            <a:endParaRPr lang="zh-CN" altLang="en-US" sz="2200" dirty="0">
              <a:sym typeface="+mn-ea"/>
            </a:endParaRPr>
          </a:p>
          <a:p>
            <a:pPr lvl="1"/>
            <a:r>
              <a:rPr lang="zh-CN" altLang="en-US" sz="1800" dirty="0">
                <a:sym typeface="+mn-ea"/>
              </a:rPr>
              <a:t>推理与行动交替进行</a:t>
            </a:r>
            <a:endParaRPr lang="zh-CN" altLang="en-US" sz="1800" dirty="0">
              <a:sym typeface="+mn-ea"/>
            </a:endParaRPr>
          </a:p>
          <a:p>
            <a:pPr lvl="1"/>
            <a:r>
              <a:rPr lang="zh-CN" altLang="en-US" sz="1800" dirty="0">
                <a:sym typeface="+mn-ea"/>
              </a:rPr>
              <a:t>行动结果反哺后续推理</a:t>
            </a:r>
            <a:endParaRPr lang="zh-CN" altLang="en-US" sz="1800" dirty="0">
              <a:sym typeface="+mn-ea"/>
            </a:endParaRPr>
          </a:p>
          <a:p>
            <a:pPr lvl="1"/>
            <a:r>
              <a:rPr lang="zh-CN" altLang="en-US" sz="1800" dirty="0"/>
              <a:t>构成最小可行 </a:t>
            </a:r>
            <a:r>
              <a:rPr lang="en-US" altLang="zh-CN" sz="1800" dirty="0"/>
              <a:t>LLM Agent </a:t>
            </a:r>
            <a:r>
              <a:rPr lang="zh-CN" altLang="en-US" sz="1800" dirty="0"/>
              <a:t>闭环</a:t>
            </a:r>
            <a:endParaRPr lang="zh-CN" altLang="en-US" sz="1800" dirty="0"/>
          </a:p>
          <a:p>
            <a:endParaRPr lang="zh-CN" altLang="en-US" sz="1800" dirty="0"/>
          </a:p>
          <a:p>
            <a:endParaRPr lang="zh-CN" alt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dirty="0">
                <a:sym typeface="+mn-ea"/>
              </a:rPr>
              <a:t>反思驱动的 </a:t>
            </a:r>
            <a:r>
              <a:rPr lang="en-US" altLang="zh-CN" dirty="0">
                <a:sym typeface="+mn-ea"/>
              </a:rPr>
              <a:t>Agent </a:t>
            </a:r>
            <a:r>
              <a:rPr lang="zh-CN" altLang="en-US" dirty="0">
                <a:sym typeface="+mn-ea"/>
              </a:rPr>
              <a:t>优化</a:t>
            </a:r>
            <a:endParaRPr lang="zh-CN" altLang="en-US" dirty="0">
              <a:sym typeface="+mn-ea"/>
            </a:endParaRPr>
          </a:p>
        </p:txBody>
      </p:sp>
      <p:sp>
        <p:nvSpPr>
          <p:cNvPr id="3" name="内容占位符 11"/>
          <p:cNvSpPr>
            <a:spLocks noGrp="1"/>
          </p:cNvSpPr>
          <p:nvPr/>
        </p:nvSpPr>
        <p:spPr>
          <a:xfrm>
            <a:off x="838200" y="1318162"/>
            <a:ext cx="10463011" cy="1019354"/>
          </a:xfrm>
          <a:prstGeom prst="rect">
            <a:avLst/>
          </a:prstGeom>
          <a:noFill/>
          <a:ln>
            <a:noFill/>
          </a:ln>
        </p:spPr>
        <p:txBody>
          <a:bodyPr vert="horz" wrap="square" lIns="91440" tIns="45720" rIns="91440" bIns="45720" numCol="1" rtlCol="0" anchor="t" anchorCtr="0" compatLnSpc="1">
            <a:normAutofit/>
          </a:bodyPr>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sz="24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sz="20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sz="1800" kern="1200">
                <a:solidFill>
                  <a:schemeClr val="tx1"/>
                </a:solidFill>
                <a:latin typeface="Times New Roman" panose="02020603050405020304" pitchFamily="18" charset="0"/>
                <a:ea typeface="微软雅黑" panose="020B0503020204020204"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200" dirty="0"/>
              <a:t>LLM </a:t>
            </a:r>
            <a:r>
              <a:rPr lang="zh-CN" altLang="en-US" sz="2200" dirty="0"/>
              <a:t>通过‘尝试 → 评估 → 反思 → 改进’循环，在 </a:t>
            </a:r>
            <a:r>
              <a:rPr lang="en-US" altLang="zh-CN" sz="2200" dirty="0"/>
              <a:t>test-time </a:t>
            </a:r>
            <a:r>
              <a:rPr lang="zh-CN" altLang="en-US" sz="2200" dirty="0"/>
              <a:t>自我优化决策，这一机制使模型在缺乏外部反馈时也能持续提升推理质量与任务稳健性</a:t>
            </a:r>
            <a:endParaRPr lang="en-US" altLang="zh-CN" sz="2200" dirty="0"/>
          </a:p>
        </p:txBody>
      </p:sp>
      <p:pic>
        <p:nvPicPr>
          <p:cNvPr id="7" name="图片 6"/>
          <p:cNvPicPr>
            <a:picLocks noChangeAspect="1"/>
          </p:cNvPicPr>
          <p:nvPr/>
        </p:nvPicPr>
        <p:blipFill>
          <a:blip r:embed="rId1"/>
          <a:stretch>
            <a:fillRect/>
          </a:stretch>
        </p:blipFill>
        <p:spPr>
          <a:xfrm>
            <a:off x="7706971" y="2423342"/>
            <a:ext cx="3854720" cy="3444987"/>
          </a:xfrm>
          <a:prstGeom prst="rect">
            <a:avLst/>
          </a:prstGeom>
        </p:spPr>
      </p:pic>
      <p:pic>
        <p:nvPicPr>
          <p:cNvPr id="9" name="图片 8"/>
          <p:cNvPicPr>
            <a:picLocks noChangeAspect="1"/>
          </p:cNvPicPr>
          <p:nvPr/>
        </p:nvPicPr>
        <p:blipFill>
          <a:blip r:embed="rId2"/>
          <a:stretch>
            <a:fillRect/>
          </a:stretch>
        </p:blipFill>
        <p:spPr>
          <a:xfrm>
            <a:off x="665869" y="3136222"/>
            <a:ext cx="6341400" cy="2305963"/>
          </a:xfrm>
          <a:prstGeom prst="rect">
            <a:avLst/>
          </a:prstGeom>
        </p:spPr>
      </p:pic>
      <p:sp>
        <p:nvSpPr>
          <p:cNvPr id="10" name="文本框 9"/>
          <p:cNvSpPr txBox="1"/>
          <p:nvPr/>
        </p:nvSpPr>
        <p:spPr>
          <a:xfrm>
            <a:off x="8998566" y="6076531"/>
            <a:ext cx="1590626" cy="461665"/>
          </a:xfrm>
          <a:prstGeom prst="rect">
            <a:avLst/>
          </a:prstGeom>
          <a:noFill/>
        </p:spPr>
        <p:txBody>
          <a:bodyPr wrap="square" rtlCol="0">
            <a:spAutoFit/>
          </a:bodyPr>
          <a:lstStyle/>
          <a:p>
            <a:r>
              <a:rPr lang="en-US" altLang="zh-CN" sz="2400" dirty="0">
                <a:solidFill>
                  <a:srgbClr val="FF0000"/>
                </a:solidFill>
              </a:rPr>
              <a:t>Reflection</a:t>
            </a:r>
            <a:endParaRPr lang="en-US" altLang="zh-CN" sz="2400" dirty="0">
              <a:solidFill>
                <a:srgbClr val="FF0000"/>
              </a:solidFill>
            </a:endParaRPr>
          </a:p>
        </p:txBody>
      </p:sp>
      <p:sp>
        <p:nvSpPr>
          <p:cNvPr id="11" name="文本框 10"/>
          <p:cNvSpPr txBox="1"/>
          <p:nvPr/>
        </p:nvSpPr>
        <p:spPr>
          <a:xfrm>
            <a:off x="2941302" y="6076530"/>
            <a:ext cx="1521228" cy="461665"/>
          </a:xfrm>
          <a:prstGeom prst="rect">
            <a:avLst/>
          </a:prstGeom>
          <a:noFill/>
        </p:spPr>
        <p:txBody>
          <a:bodyPr wrap="square" rtlCol="0">
            <a:spAutoFit/>
          </a:bodyPr>
          <a:lstStyle/>
          <a:p>
            <a:r>
              <a:rPr lang="en-US" altLang="zh-CN" sz="2400" dirty="0">
                <a:solidFill>
                  <a:srgbClr val="FF0000"/>
                </a:solidFill>
              </a:rPr>
              <a:t>Self-Refine</a:t>
            </a:r>
            <a:endParaRPr lang="en-US" altLang="zh-CN" sz="2400"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dirty="0">
                <a:latin typeface="微软雅黑" charset="0"/>
                <a:ea typeface="微软雅黑" charset="0"/>
                <a:sym typeface="+mn-ea"/>
              </a:rPr>
              <a:t>进阶推理架构</a:t>
            </a:r>
            <a:endParaRPr lang="zh-CN" altLang="en-US" dirty="0">
              <a:latin typeface="微软雅黑" charset="0"/>
              <a:ea typeface="微软雅黑" charset="0"/>
              <a:sym typeface="+mn-ea"/>
            </a:endParaRPr>
          </a:p>
        </p:txBody>
      </p:sp>
      <p:sp>
        <p:nvSpPr>
          <p:cNvPr id="6" name="文本框 5"/>
          <p:cNvSpPr txBox="1"/>
          <p:nvPr/>
        </p:nvSpPr>
        <p:spPr>
          <a:xfrm>
            <a:off x="375920" y="1212850"/>
            <a:ext cx="5476875" cy="829945"/>
          </a:xfrm>
          <a:prstGeom prst="rect">
            <a:avLst/>
          </a:prstGeom>
        </p:spPr>
        <p:txBody>
          <a:bodyPr wrap="square">
            <a:spAutoFit/>
          </a:bodyPr>
          <a:p>
            <a:pPr marL="0" indent="0">
              <a:spcBef>
                <a:spcPct val="0"/>
              </a:spcBef>
              <a:spcAft>
                <a:spcPct val="0"/>
              </a:spcAft>
            </a:pPr>
            <a:r>
              <a:rPr lang="en-US" altLang="zh-CN" sz="2400">
                <a:latin typeface="微软雅黑" charset="0"/>
                <a:ea typeface="微软雅黑" charset="0"/>
                <a:cs typeface="微软雅黑" charset="0"/>
              </a:rPr>
              <a:t>1. </a:t>
            </a:r>
            <a:r>
              <a:rPr lang="zh-CN" altLang="en-US" sz="2400">
                <a:latin typeface="微软雅黑" charset="0"/>
                <a:ea typeface="微软雅黑" charset="0"/>
                <a:cs typeface="微软雅黑" charset="0"/>
              </a:rPr>
              <a:t>宏观</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微观双层规划</a:t>
            </a:r>
            <a:endParaRPr lang="zh-CN" altLang="en-US" sz="2400">
              <a:latin typeface="微软雅黑" charset="0"/>
              <a:ea typeface="微软雅黑" charset="0"/>
              <a:cs typeface="微软雅黑" charset="0"/>
            </a:endParaRPr>
          </a:p>
          <a:p>
            <a:pPr marL="0" indent="0">
              <a:spcBef>
                <a:spcPct val="0"/>
              </a:spcBef>
              <a:spcAft>
                <a:spcPct val="0"/>
              </a:spcAft>
            </a:pPr>
            <a:r>
              <a:rPr lang="zh-CN" altLang="en-US" sz="2400">
                <a:latin typeface="微软雅黑" charset="0"/>
                <a:ea typeface="微软雅黑" charset="0"/>
                <a:cs typeface="微软雅黑" charset="0"/>
              </a:rPr>
              <a:t>（</a:t>
            </a:r>
            <a:r>
              <a:rPr lang="en-US" altLang="zh-CN" sz="2400">
                <a:latin typeface="微软雅黑" charset="0"/>
                <a:ea typeface="微软雅黑" charset="0"/>
                <a:cs typeface="微软雅黑" charset="0"/>
              </a:rPr>
              <a:t>Macro-Micro Dual Reasoning</a:t>
            </a:r>
            <a:r>
              <a:rPr lang="zh-CN" altLang="en-US" sz="2400">
                <a:latin typeface="微软雅黑" charset="0"/>
                <a:ea typeface="微软雅黑" charset="0"/>
                <a:cs typeface="微软雅黑" charset="0"/>
              </a:rPr>
              <a:t>）</a:t>
            </a:r>
            <a:endParaRPr lang="zh-CN" altLang="en-US" sz="2400">
              <a:latin typeface="微软雅黑" charset="0"/>
              <a:ea typeface="微软雅黑" charset="0"/>
              <a:cs typeface="微软雅黑" charset="0"/>
            </a:endParaRPr>
          </a:p>
        </p:txBody>
      </p:sp>
      <p:sp>
        <p:nvSpPr>
          <p:cNvPr id="8" name="文本框 7"/>
          <p:cNvSpPr txBox="1"/>
          <p:nvPr/>
        </p:nvSpPr>
        <p:spPr>
          <a:xfrm>
            <a:off x="6726555" y="1216343"/>
            <a:ext cx="5080000" cy="768350"/>
          </a:xfrm>
          <a:prstGeom prst="rect">
            <a:avLst/>
          </a:prstGeom>
        </p:spPr>
        <p:txBody>
          <a:bodyPr>
            <a:spAutoFit/>
          </a:bodyPr>
          <a:p>
            <a:pPr marL="0" indent="0">
              <a:spcBef>
                <a:spcPct val="0"/>
              </a:spcBef>
              <a:spcAft>
                <a:spcPct val="0"/>
              </a:spcAft>
            </a:pPr>
            <a:r>
              <a:rPr lang="en-US" altLang="zh-CN" sz="2200">
                <a:latin typeface="微软雅黑" charset="0"/>
                <a:ea typeface="微软雅黑" charset="0"/>
                <a:cs typeface="微软雅黑" charset="0"/>
              </a:rPr>
              <a:t>2.</a:t>
            </a:r>
            <a:r>
              <a:rPr lang="zh-CN" altLang="en-US" sz="2200">
                <a:latin typeface="微软雅黑" charset="0"/>
                <a:ea typeface="微软雅黑" charset="0"/>
                <a:cs typeface="微软雅黑" charset="0"/>
              </a:rPr>
              <a:t>潜在空间异构对齐 </a:t>
            </a:r>
            <a:endParaRPr lang="zh-CN" altLang="en-US" sz="2200">
              <a:latin typeface="微软雅黑" charset="0"/>
              <a:ea typeface="微软雅黑" charset="0"/>
              <a:cs typeface="微软雅黑" charset="0"/>
            </a:endParaRPr>
          </a:p>
          <a:p>
            <a:pPr marL="0" indent="0">
              <a:spcBef>
                <a:spcPct val="0"/>
              </a:spcBef>
              <a:spcAft>
                <a:spcPct val="0"/>
              </a:spcAft>
            </a:pPr>
            <a:r>
              <a:rPr lang="zh-CN" altLang="en-US" sz="2200">
                <a:latin typeface="微软雅黑" charset="0"/>
                <a:ea typeface="微软雅黑" charset="0"/>
                <a:cs typeface="微软雅黑" charset="0"/>
              </a:rPr>
              <a:t>（</a:t>
            </a:r>
            <a:r>
              <a:rPr lang="en-US" altLang="zh-CN" sz="2200">
                <a:latin typeface="微软雅黑" charset="0"/>
                <a:ea typeface="微软雅黑" charset="0"/>
                <a:cs typeface="微软雅黑" charset="0"/>
              </a:rPr>
              <a:t>Latent Space Alignment</a:t>
            </a:r>
            <a:r>
              <a:rPr lang="zh-CN" altLang="en-US" sz="2200">
                <a:latin typeface="微软雅黑" charset="0"/>
                <a:ea typeface="微软雅黑" charset="0"/>
                <a:cs typeface="微软雅黑" charset="0"/>
              </a:rPr>
              <a:t>）</a:t>
            </a:r>
            <a:endParaRPr lang="zh-CN" altLang="en-US" sz="2200">
              <a:latin typeface="微软雅黑" charset="0"/>
              <a:ea typeface="微软雅黑" charset="0"/>
              <a:cs typeface="微软雅黑" charset="0"/>
            </a:endParaRPr>
          </a:p>
        </p:txBody>
      </p:sp>
      <p:sp>
        <p:nvSpPr>
          <p:cNvPr id="12" name="矩形 11"/>
          <p:cNvSpPr/>
          <p:nvPr/>
        </p:nvSpPr>
        <p:spPr>
          <a:xfrm>
            <a:off x="6813550" y="2205355"/>
            <a:ext cx="3451860" cy="5359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微软雅黑" charset="0"/>
              <a:ea typeface="微软雅黑" charset="0"/>
            </a:endParaRPr>
          </a:p>
        </p:txBody>
      </p:sp>
      <p:sp>
        <p:nvSpPr>
          <p:cNvPr id="13" name="立方体 12"/>
          <p:cNvSpPr/>
          <p:nvPr/>
        </p:nvSpPr>
        <p:spPr>
          <a:xfrm>
            <a:off x="70904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14" name="立方体 13"/>
          <p:cNvSpPr/>
          <p:nvPr/>
        </p:nvSpPr>
        <p:spPr>
          <a:xfrm>
            <a:off x="75222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15" name="立方体 14"/>
          <p:cNvSpPr/>
          <p:nvPr/>
        </p:nvSpPr>
        <p:spPr>
          <a:xfrm>
            <a:off x="79540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16" name="立方体 15"/>
          <p:cNvSpPr/>
          <p:nvPr/>
        </p:nvSpPr>
        <p:spPr>
          <a:xfrm>
            <a:off x="83858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17" name="立方体 16"/>
          <p:cNvSpPr/>
          <p:nvPr/>
        </p:nvSpPr>
        <p:spPr>
          <a:xfrm>
            <a:off x="88176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18" name="立方体 17"/>
          <p:cNvSpPr/>
          <p:nvPr/>
        </p:nvSpPr>
        <p:spPr>
          <a:xfrm>
            <a:off x="92494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19" name="立方体 18"/>
          <p:cNvSpPr/>
          <p:nvPr/>
        </p:nvSpPr>
        <p:spPr>
          <a:xfrm>
            <a:off x="9681210" y="2348230"/>
            <a:ext cx="304800" cy="290195"/>
          </a:xfrm>
          <a:prstGeom prst="cub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charset="0"/>
              <a:ea typeface="微软雅黑" charset="0"/>
            </a:endParaRPr>
          </a:p>
        </p:txBody>
      </p:sp>
      <p:sp>
        <p:nvSpPr>
          <p:cNvPr id="21" name="圆角矩形 20"/>
          <p:cNvSpPr/>
          <p:nvPr/>
        </p:nvSpPr>
        <p:spPr>
          <a:xfrm>
            <a:off x="6813550" y="5004435"/>
            <a:ext cx="1862455" cy="8102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latin typeface="微软雅黑" charset="0"/>
                <a:ea typeface="微软雅黑" charset="0"/>
              </a:rPr>
              <a:t>Soft Tokens</a:t>
            </a:r>
            <a:endParaRPr lang="en-US" altLang="zh-CN" sz="1600">
              <a:latin typeface="微软雅黑" charset="0"/>
              <a:ea typeface="微软雅黑" charset="0"/>
            </a:endParaRPr>
          </a:p>
          <a:p>
            <a:pPr algn="ctr"/>
            <a:r>
              <a:rPr lang="en-US" altLang="zh-CN" sz="1600">
                <a:latin typeface="微软雅黑" charset="0"/>
                <a:ea typeface="微软雅黑" charset="0"/>
              </a:rPr>
              <a:t>（</a:t>
            </a:r>
            <a:r>
              <a:rPr lang="zh-CN" altLang="en-US" sz="1600">
                <a:latin typeface="微软雅黑" charset="0"/>
                <a:ea typeface="微软雅黑" charset="0"/>
              </a:rPr>
              <a:t>映射后的外部特征</a:t>
            </a:r>
            <a:r>
              <a:rPr lang="en-US" altLang="zh-CN" sz="1600">
                <a:latin typeface="微软雅黑" charset="0"/>
                <a:ea typeface="微软雅黑" charset="0"/>
              </a:rPr>
              <a:t>）</a:t>
            </a:r>
            <a:endParaRPr lang="en-US" altLang="zh-CN" sz="1600">
              <a:latin typeface="微软雅黑" charset="0"/>
              <a:ea typeface="微软雅黑" charset="0"/>
            </a:endParaRPr>
          </a:p>
        </p:txBody>
      </p:sp>
      <p:sp>
        <p:nvSpPr>
          <p:cNvPr id="23" name="圆角矩形 22"/>
          <p:cNvSpPr/>
          <p:nvPr/>
        </p:nvSpPr>
        <p:spPr>
          <a:xfrm>
            <a:off x="9153525" y="5004435"/>
            <a:ext cx="1527175" cy="792480"/>
          </a:xfrm>
          <a:prstGeom prst="roundRect">
            <a:avLst/>
          </a:prstGeom>
          <a:solidFill>
            <a:schemeClr val="bg1">
              <a:lumMod val="5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微软雅黑" charset="0"/>
                <a:ea typeface="微软雅黑" charset="0"/>
              </a:rPr>
              <a:t>Text Tokens</a:t>
            </a:r>
            <a:endParaRPr lang="en-US" altLang="zh-CN" sz="1600">
              <a:solidFill>
                <a:schemeClr val="tx1"/>
              </a:solidFill>
              <a:latin typeface="微软雅黑" charset="0"/>
              <a:ea typeface="微软雅黑" charset="0"/>
            </a:endParaRPr>
          </a:p>
          <a:p>
            <a:pPr algn="ctr"/>
            <a:r>
              <a:rPr lang="zh-CN" altLang="en-US" sz="1600">
                <a:solidFill>
                  <a:schemeClr val="tx1"/>
                </a:solidFill>
                <a:latin typeface="微软雅黑" charset="0"/>
                <a:ea typeface="微软雅黑" charset="0"/>
              </a:rPr>
              <a:t>文本提示</a:t>
            </a:r>
            <a:endParaRPr lang="zh-CN" altLang="en-US" sz="1600">
              <a:solidFill>
                <a:schemeClr val="tx1"/>
              </a:solidFill>
              <a:latin typeface="微软雅黑" charset="0"/>
              <a:ea typeface="微软雅黑" charset="0"/>
            </a:endParaRPr>
          </a:p>
        </p:txBody>
      </p:sp>
      <p:cxnSp>
        <p:nvCxnSpPr>
          <p:cNvPr id="24" name="直接箭头连接符 23"/>
          <p:cNvCxnSpPr>
            <a:stCxn id="21" idx="3"/>
          </p:cNvCxnSpPr>
          <p:nvPr/>
        </p:nvCxnSpPr>
        <p:spPr>
          <a:xfrm>
            <a:off x="8676005" y="5409565"/>
            <a:ext cx="446405"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pic>
        <p:nvPicPr>
          <p:cNvPr id="36" name="图片 35"/>
          <p:cNvPicPr>
            <a:picLocks noChangeAspect="1"/>
          </p:cNvPicPr>
          <p:nvPr/>
        </p:nvPicPr>
        <p:blipFill>
          <a:blip r:embed="rId1"/>
          <a:stretch>
            <a:fillRect/>
          </a:stretch>
        </p:blipFill>
        <p:spPr>
          <a:xfrm>
            <a:off x="215900" y="2265045"/>
            <a:ext cx="3632200" cy="3646170"/>
          </a:xfrm>
          <a:prstGeom prst="rect">
            <a:avLst/>
          </a:prstGeom>
        </p:spPr>
      </p:pic>
      <p:sp>
        <p:nvSpPr>
          <p:cNvPr id="37" name="文本框 36"/>
          <p:cNvSpPr txBox="1"/>
          <p:nvPr/>
        </p:nvSpPr>
        <p:spPr>
          <a:xfrm>
            <a:off x="3689350" y="2279015"/>
            <a:ext cx="3066415" cy="3399790"/>
          </a:xfrm>
          <a:prstGeom prst="rect">
            <a:avLst/>
          </a:prstGeom>
        </p:spPr>
        <p:txBody>
          <a:bodyPr wrap="square">
            <a:spAutoFit/>
          </a:bodyPr>
          <a:p>
            <a:pPr>
              <a:buFont typeface="Arial" panose="020B0604020202020204"/>
              <a:buChar char="•"/>
            </a:pPr>
            <a:r>
              <a:rPr lang="zh-CN" altLang="en-US" sz="1600">
                <a:latin typeface="微软雅黑" charset="0"/>
                <a:ea typeface="微软雅黑" charset="0"/>
                <a:cs typeface="微软雅黑" charset="0"/>
              </a:rPr>
              <a:t>核心逻辑：将推理过程解耦，模拟人类慢思考指导快思考的机制。</a:t>
            </a:r>
            <a:endParaRPr lang="zh-CN" altLang="en-US" sz="1600">
              <a:latin typeface="微软雅黑" charset="0"/>
              <a:ea typeface="微软雅黑" charset="0"/>
              <a:cs typeface="微软雅黑" charset="0"/>
            </a:endParaRPr>
          </a:p>
          <a:p>
            <a:pPr>
              <a:buFont typeface="Arial" panose="020B0604020202020204"/>
              <a:buChar char="•"/>
            </a:pPr>
            <a:r>
              <a:rPr lang="en-US" altLang="zh-CN" sz="1600">
                <a:latin typeface="微软雅黑" charset="0"/>
                <a:ea typeface="微软雅黑" charset="0"/>
                <a:cs typeface="微软雅黑" charset="0"/>
              </a:rPr>
              <a:t>﻿﻿</a:t>
            </a:r>
            <a:r>
              <a:rPr lang="zh-CN" altLang="en-US" sz="1600">
                <a:latin typeface="微软雅黑" charset="0"/>
                <a:ea typeface="微软雅黑" charset="0"/>
                <a:cs typeface="微软雅黑" charset="0"/>
              </a:rPr>
              <a:t>宏观规划器（</a:t>
            </a:r>
            <a:r>
              <a:rPr lang="en-US" altLang="zh-CN" sz="1600">
                <a:latin typeface="微软雅黑" charset="0"/>
                <a:ea typeface="微软雅黑" charset="0"/>
                <a:cs typeface="微软雅黑" charset="0"/>
              </a:rPr>
              <a:t>Macro Planner </a:t>
            </a:r>
            <a:r>
              <a:rPr lang="zh-CN" altLang="en-US" sz="1600">
                <a:latin typeface="微软雅黑" charset="0"/>
                <a:ea typeface="微软雅黑" charset="0"/>
                <a:cs typeface="微软雅黑" charset="0"/>
              </a:rPr>
              <a:t>）</a:t>
            </a:r>
            <a:endParaRPr lang="zh-CN" altLang="en-US" sz="1600">
              <a:latin typeface="微软雅黑" charset="0"/>
              <a:ea typeface="微软雅黑" charset="0"/>
              <a:cs typeface="微软雅黑" charset="0"/>
            </a:endParaRPr>
          </a:p>
          <a:p>
            <a:pPr>
              <a:buFont typeface="Arial" panose="020B0604020202020204"/>
              <a:buChar char="•"/>
            </a:pPr>
            <a:r>
              <a:rPr lang="en-US" altLang="zh-CN" sz="1600">
                <a:latin typeface="微软雅黑" charset="0"/>
                <a:ea typeface="微软雅黑" charset="0"/>
                <a:cs typeface="微软雅黑" charset="0"/>
              </a:rPr>
              <a:t>﻿</a:t>
            </a:r>
            <a:r>
              <a:rPr lang="zh-CN" altLang="en-US" sz="1600">
                <a:latin typeface="微软雅黑" charset="0"/>
                <a:ea typeface="微软雅黑" charset="0"/>
                <a:cs typeface="微软雅黑" charset="0"/>
              </a:rPr>
              <a:t>利用</a:t>
            </a:r>
            <a:r>
              <a:rPr lang="en-US" altLang="zh-CN" sz="1600">
                <a:latin typeface="微软雅黑" charset="0"/>
                <a:ea typeface="微软雅黑" charset="0"/>
                <a:cs typeface="微软雅黑" charset="0"/>
              </a:rPr>
              <a:t>CoT</a:t>
            </a:r>
            <a:r>
              <a:rPr lang="zh-CN" altLang="en-US" sz="1600">
                <a:latin typeface="微软雅黑" charset="0"/>
                <a:ea typeface="微软雅黑" charset="0"/>
                <a:cs typeface="微软雅黑" charset="0"/>
              </a:rPr>
              <a:t>能力生成自然语言形式的策略</a:t>
            </a:r>
            <a:endParaRPr lang="zh-CN" altLang="en-US" sz="1600">
              <a:latin typeface="微软雅黑" charset="0"/>
              <a:ea typeface="微软雅黑" charset="0"/>
              <a:cs typeface="微软雅黑" charset="0"/>
            </a:endParaRPr>
          </a:p>
          <a:p>
            <a:pPr marL="0" indent="0">
              <a:spcBef>
                <a:spcPct val="0"/>
              </a:spcBef>
              <a:spcAft>
                <a:spcPct val="0"/>
              </a:spcAft>
            </a:pPr>
            <a:r>
              <a:rPr lang="en-US" altLang="zh-CN" sz="1700">
                <a:latin typeface="微软雅黑" charset="0"/>
                <a:ea typeface="微软雅黑" charset="0"/>
                <a:cs typeface="微软雅黑" charset="0"/>
              </a:rPr>
              <a:t>• </a:t>
            </a:r>
            <a:r>
              <a:rPr lang="zh-CN" altLang="en-US" sz="1700">
                <a:latin typeface="微软雅黑" charset="0"/>
                <a:ea typeface="微软雅黑" charset="0"/>
                <a:cs typeface="微软雅黑" charset="0"/>
              </a:rPr>
              <a:t>作用：对高维状态空间进行语义降维，负责长程逻辑与反思。</a:t>
            </a:r>
            <a:endParaRPr lang="zh-CN" altLang="en-US" sz="1700">
              <a:latin typeface="微软雅黑" charset="0"/>
              <a:ea typeface="微软雅黑" charset="0"/>
              <a:cs typeface="微软雅黑" charset="0"/>
            </a:endParaRPr>
          </a:p>
          <a:p>
            <a:pPr marL="0" indent="0">
              <a:spcBef>
                <a:spcPct val="0"/>
              </a:spcBef>
              <a:spcAft>
                <a:spcPct val="0"/>
              </a:spcAft>
            </a:pPr>
            <a:r>
              <a:rPr lang="en-US" altLang="zh-CN" sz="1700">
                <a:latin typeface="微软雅黑" charset="0"/>
                <a:ea typeface="微软雅黑" charset="0"/>
                <a:cs typeface="微软雅黑" charset="0"/>
              </a:rPr>
              <a:t>• </a:t>
            </a:r>
            <a:r>
              <a:rPr lang="zh-CN" altLang="en-US" sz="1700">
                <a:latin typeface="微软雅黑" charset="0"/>
                <a:ea typeface="微软雅黑" charset="0"/>
                <a:cs typeface="微软雅黑" charset="0"/>
              </a:rPr>
              <a:t>微观执行器（</a:t>
            </a:r>
            <a:r>
              <a:rPr lang="en-US" altLang="zh-CN" sz="1700">
                <a:latin typeface="微软雅黑" charset="0"/>
                <a:ea typeface="微软雅黑" charset="0"/>
                <a:cs typeface="微软雅黑" charset="0"/>
              </a:rPr>
              <a:t>Micro Actor </a:t>
            </a:r>
            <a:r>
              <a:rPr lang="zh-CN" altLang="en-US" sz="1700">
                <a:latin typeface="微软雅黑" charset="0"/>
                <a:ea typeface="微软雅黑" charset="0"/>
                <a:cs typeface="微软雅黑" charset="0"/>
              </a:rPr>
              <a:t>）</a:t>
            </a:r>
            <a:endParaRPr lang="en-US" altLang="zh-CN" sz="1700">
              <a:latin typeface="微软雅黑" charset="0"/>
              <a:ea typeface="微软雅黑" charset="0"/>
              <a:cs typeface="微软雅黑" charset="0"/>
            </a:endParaRPr>
          </a:p>
          <a:p>
            <a:pPr marL="0" indent="0">
              <a:spcBef>
                <a:spcPct val="0"/>
              </a:spcBef>
              <a:spcAft>
                <a:spcPct val="0"/>
              </a:spcAft>
            </a:pPr>
            <a:r>
              <a:rPr lang="en-US" altLang="zh-CN" sz="1700">
                <a:latin typeface="微软雅黑" charset="0"/>
                <a:ea typeface="微软雅黑" charset="0"/>
                <a:cs typeface="微软雅黑" charset="0"/>
              </a:rPr>
              <a:t>•</a:t>
            </a:r>
            <a:r>
              <a:rPr lang="zh-CN" altLang="en-US" sz="1700">
                <a:latin typeface="微软雅黑" charset="0"/>
                <a:ea typeface="微软雅黑" charset="0"/>
                <a:cs typeface="微软雅黑" charset="0"/>
              </a:rPr>
              <a:t>由轻量级小模型担任，接收策略指导，在受限空间内执行具体动作。</a:t>
            </a:r>
            <a:endParaRPr lang="zh-CN" altLang="en-US" sz="1700">
              <a:latin typeface="微软雅黑" charset="0"/>
              <a:ea typeface="微软雅黑" charset="0"/>
              <a:cs typeface="微软雅黑" charset="0"/>
            </a:endParaRPr>
          </a:p>
        </p:txBody>
      </p:sp>
      <p:sp>
        <p:nvSpPr>
          <p:cNvPr id="38" name="文本框 37"/>
          <p:cNvSpPr txBox="1"/>
          <p:nvPr/>
        </p:nvSpPr>
        <p:spPr>
          <a:xfrm>
            <a:off x="6813550" y="2965133"/>
            <a:ext cx="5080000" cy="1814830"/>
          </a:xfrm>
          <a:prstGeom prst="rect">
            <a:avLst/>
          </a:prstGeom>
        </p:spPr>
        <p:txBody>
          <a:bodyPr>
            <a:spAutoFit/>
          </a:bodyPr>
          <a:p>
            <a:pPr>
              <a:buFont typeface="Arial" panose="020B0604020202020204"/>
              <a:buChar char="•"/>
            </a:pPr>
            <a:r>
              <a:rPr lang="zh-CN" altLang="en-US" sz="1600">
                <a:latin typeface="微软雅黑" charset="0"/>
                <a:ea typeface="微软雅黑" charset="0"/>
                <a:cs typeface="微软雅黑" charset="0"/>
              </a:rPr>
              <a:t>核心逻辑：解决非文本模态（如图结构、</a:t>
            </a:r>
            <a:r>
              <a:rPr lang="en-US" altLang="zh-CN" sz="1600">
                <a:latin typeface="微软雅黑" charset="0"/>
                <a:ea typeface="微软雅黑" charset="0"/>
                <a:cs typeface="微软雅黑" charset="0"/>
              </a:rPr>
              <a:t>ID</a:t>
            </a:r>
            <a:r>
              <a:rPr lang="zh-CN" altLang="en-US" sz="1600">
                <a:latin typeface="微软雅黑" charset="0"/>
                <a:ea typeface="微软雅黑" charset="0"/>
                <a:cs typeface="微软雅黑" charset="0"/>
              </a:rPr>
              <a:t>序列）与</a:t>
            </a:r>
            <a:r>
              <a:rPr lang="en-US" altLang="zh-CN" sz="1600">
                <a:latin typeface="微软雅黑" charset="0"/>
                <a:ea typeface="微软雅黑" charset="0"/>
                <a:cs typeface="微软雅黑" charset="0"/>
              </a:rPr>
              <a:t>LLM </a:t>
            </a:r>
            <a:r>
              <a:rPr lang="zh-CN" altLang="en-US" sz="1600">
                <a:latin typeface="微软雅黑" charset="0"/>
                <a:ea typeface="微软雅黑" charset="0"/>
                <a:cs typeface="微软雅黑" charset="0"/>
              </a:rPr>
              <a:t>语义空间的鸿沟。</a:t>
            </a:r>
            <a:endParaRPr lang="zh-CN" altLang="en-US" sz="1600">
              <a:latin typeface="微软雅黑" charset="0"/>
              <a:ea typeface="微软雅黑" charset="0"/>
              <a:cs typeface="微软雅黑" charset="0"/>
            </a:endParaRPr>
          </a:p>
          <a:p>
            <a:pPr>
              <a:buFont typeface="Arial" panose="020B0604020202020204"/>
              <a:buChar char="•"/>
            </a:pPr>
            <a:r>
              <a:rPr lang="en-US" altLang="zh-CN" sz="1600">
                <a:latin typeface="微软雅黑" charset="0"/>
                <a:ea typeface="微软雅黑" charset="0"/>
                <a:cs typeface="微软雅黑" charset="0"/>
              </a:rPr>
              <a:t>﻿﻿</a:t>
            </a:r>
            <a:r>
              <a:rPr lang="zh-CN" altLang="en-US" sz="1600">
                <a:latin typeface="微软雅黑" charset="0"/>
                <a:ea typeface="微软雅黑" charset="0"/>
                <a:cs typeface="微软雅黑" charset="0"/>
              </a:rPr>
              <a:t>软提示技术（</a:t>
            </a:r>
            <a:r>
              <a:rPr lang="en-US" altLang="zh-CN" sz="1600">
                <a:latin typeface="微软雅黑" charset="0"/>
                <a:ea typeface="微软雅黑" charset="0"/>
                <a:cs typeface="微软雅黑" charset="0"/>
              </a:rPr>
              <a:t>Softprompting</a:t>
            </a:r>
            <a:r>
              <a:rPr lang="zh-CN" altLang="en-US" sz="1600">
                <a:latin typeface="微软雅黑" charset="0"/>
                <a:ea typeface="微软雅黑" charset="0"/>
                <a:cs typeface="微软雅黑" charset="0"/>
              </a:rPr>
              <a:t>）</a:t>
            </a:r>
            <a:endParaRPr lang="zh-CN" altLang="en-US" sz="1600">
              <a:latin typeface="微软雅黑" charset="0"/>
              <a:ea typeface="微软雅黑" charset="0"/>
              <a:cs typeface="微软雅黑" charset="0"/>
            </a:endParaRPr>
          </a:p>
          <a:p>
            <a:pPr>
              <a:buFont typeface="Arial" panose="020B0604020202020204"/>
              <a:buChar char="•"/>
            </a:pPr>
            <a:r>
              <a:rPr lang="en-US" altLang="zh-CN" sz="1600">
                <a:latin typeface="微软雅黑" charset="0"/>
                <a:ea typeface="微软雅黑" charset="0"/>
                <a:cs typeface="微软雅黑" charset="0"/>
              </a:rPr>
              <a:t>﻿﻿</a:t>
            </a:r>
            <a:r>
              <a:rPr lang="zh-CN" altLang="en-US" sz="1600">
                <a:latin typeface="微软雅黑" charset="0"/>
                <a:ea typeface="微软雅黑" charset="0"/>
                <a:cs typeface="微软雅黑" charset="0"/>
              </a:rPr>
              <a:t>通过轻量级映射网络），将外部离散信号直接投射为</a:t>
            </a:r>
            <a:r>
              <a:rPr lang="en-US" altLang="zh-CN" sz="1600">
                <a:latin typeface="微软雅黑" charset="0"/>
                <a:ea typeface="微软雅黑" charset="0"/>
                <a:cs typeface="微软雅黑" charset="0"/>
              </a:rPr>
              <a:t>LLM</a:t>
            </a:r>
            <a:r>
              <a:rPr lang="zh-CN" altLang="en-US" sz="1600">
                <a:latin typeface="微软雅黑" charset="0"/>
                <a:ea typeface="微软雅黑" charset="0"/>
                <a:cs typeface="微软雅黑" charset="0"/>
              </a:rPr>
              <a:t>输入层的连续向量。</a:t>
            </a:r>
            <a:endParaRPr lang="zh-CN" altLang="en-US" sz="1600">
              <a:latin typeface="微软雅黑" charset="0"/>
              <a:ea typeface="微软雅黑" charset="0"/>
              <a:cs typeface="微软雅黑" charset="0"/>
            </a:endParaRPr>
          </a:p>
          <a:p>
            <a:pPr>
              <a:buFont typeface="Arial" panose="020B0604020202020204"/>
              <a:buChar char="•"/>
            </a:pPr>
            <a:r>
              <a:rPr lang="en-US" altLang="zh-CN" sz="1600">
                <a:latin typeface="微软雅黑" charset="0"/>
                <a:ea typeface="微软雅黑" charset="0"/>
                <a:cs typeface="微软雅黑" charset="0"/>
              </a:rPr>
              <a:t>﻿﻿</a:t>
            </a:r>
            <a:r>
              <a:rPr lang="zh-CN" altLang="en-US" sz="1600">
                <a:latin typeface="微软雅黑" charset="0"/>
                <a:ea typeface="微软雅黑" charset="0"/>
                <a:cs typeface="微软雅黑" charset="0"/>
              </a:rPr>
              <a:t>相比 </a:t>
            </a:r>
            <a:r>
              <a:rPr lang="en-US" altLang="zh-CN" sz="1600">
                <a:latin typeface="微软雅黑" charset="0"/>
                <a:ea typeface="微软雅黑" charset="0"/>
                <a:cs typeface="微软雅黑" charset="0"/>
              </a:rPr>
              <a:t>Hard Prompt</a:t>
            </a:r>
            <a:r>
              <a:rPr lang="zh-CN" altLang="en-US" sz="1600">
                <a:latin typeface="微软雅黑" charset="0"/>
                <a:ea typeface="微软雅黑" charset="0"/>
                <a:cs typeface="微软雅黑" charset="0"/>
              </a:rPr>
              <a:t>，显著降低了</a:t>
            </a:r>
            <a:r>
              <a:rPr lang="en-US" altLang="zh-CN" sz="1600">
                <a:latin typeface="微软雅黑" charset="0"/>
                <a:ea typeface="微软雅黑" charset="0"/>
                <a:cs typeface="微软雅黑" charset="0"/>
              </a:rPr>
              <a:t>KV Caene</a:t>
            </a:r>
            <a:r>
              <a:rPr lang="zh-CN" altLang="en-US" sz="1600">
                <a:latin typeface="微软雅黑" charset="0"/>
                <a:ea typeface="微软雅黑" charset="0"/>
                <a:cs typeface="微软雅黑" charset="0"/>
              </a:rPr>
              <a:t>开销，提升推理效率</a:t>
            </a:r>
            <a:endParaRPr lang="zh-CN" altLang="en-US" sz="1600">
              <a:latin typeface="微软雅黑" charset="0"/>
              <a:ea typeface="微软雅黑" charset="0"/>
              <a:cs typeface="微软雅黑"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en-US" altLang="zh-CN" dirty="0">
                <a:solidFill>
                  <a:schemeClr val="tx1"/>
                </a:solidFill>
                <a:latin typeface="微软雅黑" charset="0"/>
                <a:ea typeface="微软雅黑" charset="0"/>
                <a:sym typeface="+mn-ea"/>
              </a:rPr>
              <a:t>Zero</a:t>
            </a:r>
            <a:r>
              <a:rPr lang="zh-CN" altLang="en-US" dirty="0">
                <a:solidFill>
                  <a:schemeClr val="tx1"/>
                </a:solidFill>
                <a:latin typeface="微软雅黑" charset="0"/>
                <a:ea typeface="微软雅黑" charset="0"/>
                <a:sym typeface="+mn-ea"/>
              </a:rPr>
              <a:t>-</a:t>
            </a:r>
            <a:r>
              <a:rPr lang="en-US" altLang="zh-CN" dirty="0">
                <a:solidFill>
                  <a:schemeClr val="tx1"/>
                </a:solidFill>
                <a:latin typeface="微软雅黑" charset="0"/>
                <a:ea typeface="微软雅黑" charset="0"/>
                <a:sym typeface="+mn-ea"/>
              </a:rPr>
              <a:t>shot 零</a:t>
            </a:r>
            <a:r>
              <a:rPr lang="zh-CN" altLang="en-US" dirty="0">
                <a:solidFill>
                  <a:schemeClr val="tx1"/>
                </a:solidFill>
                <a:latin typeface="微软雅黑" charset="0"/>
                <a:ea typeface="微软雅黑" charset="0"/>
                <a:sym typeface="+mn-ea"/>
              </a:rPr>
              <a:t>样本学习</a:t>
            </a:r>
            <a:endParaRPr lang="zh-CN" altLang="en-US">
              <a:latin typeface="微软雅黑" charset="0"/>
              <a:ea typeface="微软雅黑" charset="0"/>
              <a:sym typeface="+mn-ea"/>
            </a:endParaRPr>
          </a:p>
        </p:txBody>
      </p:sp>
      <p:pic>
        <p:nvPicPr>
          <p:cNvPr id="3" name="图片 2" descr="post_object_image_2781103905"/>
          <p:cNvPicPr>
            <a:picLocks noChangeAspect="1"/>
          </p:cNvPicPr>
          <p:nvPr/>
        </p:nvPicPr>
        <p:blipFill>
          <a:blip r:embed="rId1"/>
          <a:stretch>
            <a:fillRect/>
          </a:stretch>
        </p:blipFill>
        <p:spPr>
          <a:xfrm>
            <a:off x="1059804" y="986884"/>
            <a:ext cx="10072440" cy="3187850"/>
          </a:xfrm>
          <a:prstGeom prst="rect">
            <a:avLst/>
          </a:prstGeom>
        </p:spPr>
      </p:pic>
      <p:sp>
        <p:nvSpPr>
          <p:cNvPr id="6" name="文本框 5"/>
          <p:cNvSpPr txBox="1"/>
          <p:nvPr userDrawn="1"/>
        </p:nvSpPr>
        <p:spPr>
          <a:xfrm>
            <a:off x="463196" y="4364195"/>
            <a:ext cx="11290680" cy="1143969"/>
          </a:xfrm>
          <a:prstGeom prst="rect">
            <a:avLst/>
          </a:prstGeom>
        </p:spPr>
        <p:txBody>
          <a:bodyPr wrap="square" rtlCol="0">
            <a:noAutofit/>
          </a:bodyPr>
          <a:p>
            <a:pPr algn="ct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通过零样本学习在</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GSM8K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数据集上</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测试</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ChatGPT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的数学推理能力</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 name="图片 1" descr="post_object_image_3839379420"/>
          <p:cNvPicPr>
            <a:picLocks noChangeAspect="1"/>
          </p:cNvPicPr>
          <p:nvPr/>
        </p:nvPicPr>
        <p:blipFill>
          <a:blip r:embed="rId1"/>
          <a:stretch>
            <a:fillRect/>
          </a:stretch>
        </p:blipFill>
        <p:spPr>
          <a:xfrm>
            <a:off x="1088913" y="1005198"/>
            <a:ext cx="10014222" cy="3867099"/>
          </a:xfrm>
          <a:prstGeom prst="rect">
            <a:avLst/>
          </a:prstGeom>
        </p:spPr>
      </p:pic>
      <p:sp>
        <p:nvSpPr>
          <p:cNvPr id="3"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dirty="0">
                <a:solidFill>
                  <a:schemeClr val="tx1"/>
                </a:solidFill>
                <a:latin typeface="微软雅黑" charset="0"/>
                <a:ea typeface="微软雅黑" charset="0"/>
                <a:sym typeface="+mn-ea"/>
              </a:rPr>
              <a:t>few-</a:t>
            </a:r>
            <a:r>
              <a:rPr lang="en-US" altLang="zh-CN" dirty="0">
                <a:solidFill>
                  <a:schemeClr val="tx1"/>
                </a:solidFill>
                <a:latin typeface="微软雅黑" charset="0"/>
                <a:ea typeface="微软雅黑" charset="0"/>
                <a:sym typeface="+mn-ea"/>
              </a:rPr>
              <a:t>shot </a:t>
            </a:r>
            <a:r>
              <a:rPr lang="zh-CN" altLang="en-US" dirty="0">
                <a:solidFill>
                  <a:schemeClr val="tx1"/>
                </a:solidFill>
                <a:latin typeface="微软雅黑" charset="0"/>
                <a:ea typeface="微软雅黑" charset="0"/>
                <a:sym typeface="+mn-ea"/>
              </a:rPr>
              <a:t>少样本学习</a:t>
            </a:r>
            <a:endParaRPr lang="zh-CN" altLang="en-US">
              <a:latin typeface="微软雅黑" charset="0"/>
              <a:ea typeface="微软雅黑" charset="0"/>
              <a:sym typeface="+mn-ea"/>
            </a:endParaRPr>
          </a:p>
        </p:txBody>
      </p:sp>
      <p:sp>
        <p:nvSpPr>
          <p:cNvPr id="6" name="文本框 5"/>
          <p:cNvSpPr txBox="1"/>
          <p:nvPr userDrawn="1"/>
        </p:nvSpPr>
        <p:spPr>
          <a:xfrm>
            <a:off x="450684" y="4968545"/>
            <a:ext cx="11290680" cy="1143969"/>
          </a:xfrm>
          <a:prstGeom prst="rect">
            <a:avLst/>
          </a:prstGeom>
        </p:spPr>
        <p:txBody>
          <a:bodyPr wrap="square" rtlCol="0">
            <a:noAutofit/>
          </a:bodyPr>
          <a:p>
            <a:pPr algn="ct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通过</a:t>
            </a:r>
            <a:r>
              <a:rPr lang="zh-CN" altLang="en-US" sz="30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少</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样本学习在</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GSM8K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数据集上</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测试</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ChatGPT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的数学推理能力</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dirty="0">
                <a:solidFill>
                  <a:schemeClr val="tx1"/>
                </a:solidFill>
                <a:latin typeface="微软雅黑" charset="0"/>
                <a:ea typeface="微软雅黑" charset="0"/>
                <a:sym typeface="+mn-ea"/>
              </a:rPr>
              <a:t>C</a:t>
            </a:r>
            <a:r>
              <a:rPr lang="en-US" altLang="zh-CN" dirty="0">
                <a:solidFill>
                  <a:schemeClr val="tx1"/>
                </a:solidFill>
                <a:latin typeface="微软雅黑" charset="0"/>
                <a:ea typeface="微软雅黑" charset="0"/>
                <a:sym typeface="+mn-ea"/>
              </a:rPr>
              <a:t>oT </a:t>
            </a:r>
            <a:r>
              <a:rPr lang="zh-CN" altLang="en-US" dirty="0">
                <a:solidFill>
                  <a:schemeClr val="tx1"/>
                </a:solidFill>
                <a:latin typeface="微软雅黑" charset="0"/>
                <a:ea typeface="微软雅黑" charset="0"/>
                <a:sym typeface="+mn-ea"/>
              </a:rPr>
              <a:t>思维链推理</a:t>
            </a:r>
            <a:endParaRPr lang="zh-CN" altLang="en-US">
              <a:latin typeface="微软雅黑" charset="0"/>
              <a:ea typeface="微软雅黑" charset="0"/>
              <a:sym typeface="+mn-ea"/>
            </a:endParaRPr>
          </a:p>
        </p:txBody>
      </p:sp>
      <p:pic>
        <p:nvPicPr>
          <p:cNvPr id="2" name="图片 1" descr="post_object_image_3194464553"/>
          <p:cNvPicPr>
            <a:picLocks noChangeAspect="1"/>
          </p:cNvPicPr>
          <p:nvPr/>
        </p:nvPicPr>
        <p:blipFill>
          <a:blip r:embed="rId1"/>
          <a:stretch>
            <a:fillRect/>
          </a:stretch>
        </p:blipFill>
        <p:spPr>
          <a:xfrm>
            <a:off x="1828824" y="910632"/>
            <a:ext cx="8534400" cy="3810000"/>
          </a:xfrm>
          <a:prstGeom prst="rect">
            <a:avLst/>
          </a:prstGeom>
        </p:spPr>
      </p:pic>
      <p:sp>
        <p:nvSpPr>
          <p:cNvPr id="6" name="文本框 5"/>
          <p:cNvSpPr txBox="1"/>
          <p:nvPr userDrawn="1"/>
        </p:nvSpPr>
        <p:spPr>
          <a:xfrm>
            <a:off x="450684" y="4956514"/>
            <a:ext cx="11290680" cy="1143969"/>
          </a:xfrm>
          <a:prstGeom prst="rect">
            <a:avLst/>
          </a:prstGeom>
        </p:spPr>
        <p:txBody>
          <a:bodyPr wrap="square" rtlCol="0">
            <a:noAutofit/>
          </a:bodyPr>
          <a:p>
            <a:pPr algn="ct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通过</a:t>
            </a:r>
            <a:r>
              <a:rPr lang="zh-CN" altLang="en-US" sz="30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思维链</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在</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GSM8K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数据集上</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测试</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ChatGPT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的数学推理能力</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37584" y="897467"/>
            <a:ext cx="11616267" cy="0"/>
          </a:xfrm>
          <a:prstGeom prst="line">
            <a:avLst/>
          </a:prstGeom>
          <a:ln w="34925"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标题 1"/>
          <p:cNvSpPr>
            <a:spLocks noGrp="1"/>
          </p:cNvSpPr>
          <p:nvPr/>
        </p:nvSpPr>
        <p:spPr>
          <a:xfrm>
            <a:off x="463137" y="174094"/>
            <a:ext cx="10187929" cy="7364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baseline="0">
                <a:solidFill>
                  <a:schemeClr val="tx1"/>
                </a:solidFill>
                <a:latin typeface="微软雅黑" panose="020B0503020204020204" charset="-122"/>
                <a:ea typeface="微软雅黑" panose="020B0503020204020204" charset="-122"/>
                <a:cs typeface="+mj-cs"/>
              </a:defRPr>
            </a:lvl1pPr>
          </a:lstStyle>
          <a:p>
            <a:r>
              <a:rPr lang="zh-CN" altLang="en-US" dirty="0">
                <a:solidFill>
                  <a:schemeClr val="tx1"/>
                </a:solidFill>
                <a:latin typeface="微软雅黑" charset="0"/>
                <a:ea typeface="微软雅黑" charset="0"/>
                <a:sym typeface="+mn-ea"/>
              </a:rPr>
              <a:t>Q</a:t>
            </a:r>
            <a:r>
              <a:rPr lang="en-US" altLang="zh-CN" dirty="0">
                <a:solidFill>
                  <a:schemeClr val="tx1"/>
                </a:solidFill>
                <a:latin typeface="微软雅黑" charset="0"/>
                <a:ea typeface="微软雅黑" charset="0"/>
                <a:sym typeface="+mn-ea"/>
              </a:rPr>
              <a:t>WEN</a:t>
            </a:r>
            <a:r>
              <a:rPr lang="zh-CN" altLang="en-US" dirty="0">
                <a:solidFill>
                  <a:schemeClr val="tx1"/>
                </a:solidFill>
                <a:latin typeface="微软雅黑" charset="0"/>
                <a:ea typeface="微软雅黑" charset="0"/>
                <a:sym typeface="+mn-ea"/>
              </a:rPr>
              <a:t>-</a:t>
            </a:r>
            <a:r>
              <a:rPr lang="en-US" altLang="zh-CN" dirty="0">
                <a:solidFill>
                  <a:schemeClr val="tx1"/>
                </a:solidFill>
                <a:latin typeface="微软雅黑" charset="0"/>
                <a:ea typeface="微软雅黑" charset="0"/>
                <a:sym typeface="+mn-ea"/>
              </a:rPr>
              <a:t>plus</a:t>
            </a:r>
            <a:endParaRPr lang="zh-CN" altLang="en-US">
              <a:latin typeface="微软雅黑" charset="0"/>
              <a:ea typeface="微软雅黑" charset="0"/>
              <a:sym typeface="+mn-ea"/>
            </a:endParaRPr>
          </a:p>
        </p:txBody>
      </p:sp>
      <p:pic>
        <p:nvPicPr>
          <p:cNvPr id="4" name="图片 3" descr="post_object_image_1688790412"/>
          <p:cNvPicPr>
            <a:picLocks noChangeAspect="1"/>
          </p:cNvPicPr>
          <p:nvPr/>
        </p:nvPicPr>
        <p:blipFill>
          <a:blip r:embed="rId1"/>
          <a:stretch>
            <a:fillRect/>
          </a:stretch>
        </p:blipFill>
        <p:spPr>
          <a:xfrm>
            <a:off x="573372" y="1176846"/>
            <a:ext cx="6629851" cy="5050762"/>
          </a:xfrm>
          <a:prstGeom prst="rect">
            <a:avLst/>
          </a:prstGeom>
        </p:spPr>
      </p:pic>
      <p:sp>
        <p:nvSpPr>
          <p:cNvPr id="7" name="文本框 6"/>
          <p:cNvSpPr txBox="1"/>
          <p:nvPr userDrawn="1"/>
        </p:nvSpPr>
        <p:spPr>
          <a:xfrm>
            <a:off x="7741514" y="1299068"/>
            <a:ext cx="3999850" cy="4801415"/>
          </a:xfrm>
          <a:prstGeom prst="rect">
            <a:avLst/>
          </a:prstGeom>
        </p:spPr>
        <p:txBody>
          <a:bodyPr wrap="square" rtlCol="0">
            <a:noAutofit/>
          </a:bodyPr>
          <a:p>
            <a:pPr algn="l"/>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在</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Qwen-Plus</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模型上进行</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GSM8K</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数据集的数学推理实验中，三种方法的表现如下：</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Zero-shot</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的正确率为</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82.0%</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Few-shot</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的正确率达到</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100.0%</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，而</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CoT</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的正确率为</a:t>
            </a:r>
            <a:r>
              <a:rPr lang="en-US" altLang="zh-CN" sz="300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300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98.0%</a:t>
            </a:r>
            <a:r>
              <a:rPr lang="zh-CN" altLang="en-US" sz="3000">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zh-CN" altLang="en-US" sz="300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commondata" val="eyJoZGlkIjoiY2NhZjQ1MGFiNGE5N2YzMDc0ZjMzYWMwNzE0YmRiMDk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3193</Words>
  <Application>WPS Office WWO_wpscloud_20251210192134-89989c4dbf</Application>
  <PresentationFormat>宽屏</PresentationFormat>
  <Paragraphs>234</Paragraphs>
  <Slides>27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27</vt:i4>
      </vt:variant>
    </vt:vector>
  </HeadingPairs>
  <TitlesOfParts>
    <vt:vector size="41" baseType="lpstr">
      <vt:lpstr>Arial</vt:lpstr>
      <vt:lpstr>宋体</vt:lpstr>
      <vt:lpstr>Wingdings</vt:lpstr>
      <vt:lpstr>微软雅黑</vt:lpstr>
      <vt:lpstr>汉仪旗黑KW 55S</vt:lpstr>
      <vt:lpstr>黑体</vt:lpstr>
      <vt:lpstr>黑体</vt:lpstr>
      <vt:lpstr>Times New Roman</vt:lpstr>
      <vt:lpstr>Kingsoft Confetti</vt:lpstr>
      <vt:lpstr>Calibri Light</vt:lpstr>
      <vt:lpstr>汉仪书宋二KW</vt:lpstr>
      <vt:lpstr>微软雅黑</vt:lpstr>
      <vt:lpstr>Arial</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王宝会</cp:lastModifiedBy>
  <dcterms:created xsi:type="dcterms:W3CDTF">2025-12-23T14:04:04Z</dcterms:created>
  <dcterms:modified xsi:type="dcterms:W3CDTF">2025-12-23T14:04:04Z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4E6C6B8D99A54BBBA9F6344076EFF5EC_13</vt:lpwstr>
  </property>
  <property fmtid="{D5CDD505-2E9C-101B-9397-08002B2CF9AE}" pid="3" name="KSOProductBuildVer">
    <vt:lpwstr>2052-12.9.0.24109</vt:lpwstr>
  </property>
</Properties>
</file>