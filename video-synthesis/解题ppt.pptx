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705" y="1694259"/>
            <a:ext cx="7460441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视频合成——北航校园视频光流融合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1" y="2445990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2468C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1705" y="2699891"/>
            <a:ext cx="746044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1600" dirty="0">
                <a:solidFill>
                  <a:srgbClr val="A8C5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 Farneback 稠密光流的视频过渡算法实现与分析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1705" y="3239542"/>
            <a:ext cx="746044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A3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北京航空航天大学 </a:t>
            </a:r>
            <a:r>
              <a:rPr lang="zh-CN" altLang="en-US" sz="1200" dirty="0">
                <a:solidFill>
                  <a:srgbClr val="7BA3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赛卓林</a:t>
            </a:r>
            <a:r>
              <a:rPr lang="en-US" altLang="zh-CN" sz="1200" dirty="0">
                <a:solidFill>
                  <a:srgbClr val="7BA3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zh-CN" altLang="en-US" sz="1200" dirty="0">
                <a:solidFill>
                  <a:srgbClr val="7BA3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腾绪龙</a:t>
            </a:r>
            <a:r>
              <a:rPr lang="en-US" sz="1200" dirty="0">
                <a:solidFill>
                  <a:srgbClr val="7BA3D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　　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326440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为什么需要视频融合算法？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838051"/>
            <a:ext cx="8331398" cy="1723281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直接拼接（Hard Cut）的问题：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两段视频场景差异大时产生视觉跳跃，观感突兀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视频融合目标：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在拼接点生成自然的过渡效果，使合成视频流畅连贯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核心挑战：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如何估计两帧之间的像素运动？如何生成视觉上合理的中间帧？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评估指标：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帧间绝对差（Frame Difference）— 越小过渡越平滑</a:t>
            </a:r>
            <a:endParaRPr lang="en-US" sz="1400" dirty="0"/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SSIM 结构相似性 — 越高连贯性越好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6301" y="2680712"/>
            <a:ext cx="849802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200" i="1" dirty="0">
                <a:solidFill>
                  <a:srgbClr val="4A556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光流融合通过显式建模像素运动，生成物理上合理的过渡帧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460970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知识点一：光流（Optical Flow）原理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1630" y="864870"/>
            <a:ext cx="8395970" cy="2585085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亮度守恒假设：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同一物理点在相邻帧亮度不变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光流约束方程（泰勒展开）：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endParaRPr lang="en-US" sz="1400" dirty="0"/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I(x,y,t) = I(x+dx, y+dy, t+dt) → I(x)·u + I(y)·v + I(t) = 0</a:t>
            </a:r>
            <a:endParaRPr lang="en-US" sz="1400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I(x): 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图像的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水平梯度</a:t>
            </a: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，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像素在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水平方向上的亮度变化率（通过图像差分得到）</a:t>
            </a:r>
            <a:endParaRPr lang="zh-CN" altLang="en-US" sz="1400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I(y): 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图像的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垂直梯度</a:t>
            </a: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，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像素在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垂直方向上的亮度变化率</a:t>
            </a:r>
            <a:endParaRPr lang="zh-CN" altLang="en-US" sz="1400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I(z): 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图像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的时间梯度</a:t>
            </a: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同一位置在前后两帧图像间的亮度变化率</a:t>
            </a:r>
            <a:endParaRPr lang="zh-CN" altLang="en-US" sz="1400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u: 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像素在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水平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方向上的运动速度</a:t>
            </a:r>
            <a:endParaRPr lang="zh-CN" altLang="en-US" sz="1400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altLang="zh-CN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v: 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像素在</a:t>
            </a:r>
            <a:r>
              <a:rPr lang="zh-CN" alt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垂直方向上的运动速度</a:t>
            </a:r>
            <a:endParaRPr lang="en-US" sz="1400" b="1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endParaRPr lang="en-US" sz="1400" b="1" dirty="0">
              <a:solidFill>
                <a:srgbClr val="1A1A2E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孔径问题（Aperture Problem）：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一方程两未知数 (u,v)，需额外约束才能唯一求解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Farneback 稠密光流：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用多项式对局部图像建模，逐像素得到 (u, v) 速度向量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金字塔分层策略：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低分辨率到高分辨率逐层细化，有效处理大位移运动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469046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知识点二：帧扭曲（Frame Warping）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838051"/>
            <a:ext cx="8331398" cy="556320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光流场 flow(x,y) = (dx, dy)：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描述像素从 last_frame → first_frame 的运动向量</a:t>
            </a:r>
            <a:endParaRPr lang="en-US" sz="1400" dirty="0"/>
          </a:p>
          <a:p>
            <a:pPr marL="139700" indent="-139700" algn="l">
              <a:lnSpc>
                <a:spcPts val="189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按插值系数 t ∈ [0,1] 做部分扭曲（t=0 静止，t=1 完全跟随光流）：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01" y="1470571"/>
            <a:ext cx="8331398" cy="552301"/>
          </a:xfrm>
          <a:prstGeom prst="roundRect">
            <a:avLst>
              <a:gd name="adj" fmla="val 6898"/>
            </a:avLst>
          </a:prstGeom>
          <a:solidFill>
            <a:srgbClr val="EB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002" y="1559421"/>
            <a:ext cx="813551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map_x(x,y) = x + dx * 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4002" y="1753046"/>
            <a:ext cx="813551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map_y(x,y) = y + dy * 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6301" y="2124373"/>
            <a:ext cx="8331398" cy="556320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cv2.remap()：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按新坐标映射源像素，得到 warped_frame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物理含义：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warped_frame 是 last_frame 向 first_frame 移动了"t 步"的中间状态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4405676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知识点三：Alpha 混合 = 完整过渡帧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838051"/>
            <a:ext cx="8331398" cy="556320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问题：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仅靠 warp 在遮挡区域产生边缘残影（ghosting effect）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解决：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将 warped_frame 与 first_frame 做线性 Alpha 混合，消除伪影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06301" y="1470571"/>
            <a:ext cx="8331398" cy="358676"/>
          </a:xfrm>
          <a:prstGeom prst="roundRect">
            <a:avLst>
              <a:gd name="adj" fmla="val 10622"/>
            </a:avLst>
          </a:prstGeom>
          <a:solidFill>
            <a:srgbClr val="EBF4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002" y="1559421"/>
            <a:ext cx="813551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blended = (1-t) x warped_frame  +  t x first_frame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930747"/>
            <a:ext cx="8331398" cy="872579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 从 0 线性增大到 1，共生成 </a:t>
            </a: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个过渡帧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（约 0.5s @ 30fps）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完整过渡序列：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clip_i 主体帧 + 15 帧光流过渡 + clip_{i+1} 主体帧</a:t>
            </a:r>
            <a:endParaRPr lang="en-US" sz="1400" dirty="0"/>
          </a:p>
          <a:p>
            <a:pPr marL="0" indent="0" algn="l">
              <a:lnSpc>
                <a:spcPts val="1890"/>
              </a:lnSpc>
              <a:spcAft>
                <a:spcPts val="600"/>
              </a:spcAft>
              <a:buSzPct val="100000"/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Warp + Alpha 协同：</a:t>
            </a: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Warp 负责运动补偿，Alpha 负责消除遮挡伪影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84329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智能切点检测 + 双向 Farneback 稠密光流算法完整流程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730000"/>
            <a:ext cx="8331398" cy="2700000"/>
          </a:xfrm>
          <a:prstGeom prst="rect">
            <a:avLst/>
          </a:prstGeom>
          <a:noFill/>
        </p:spPr>
        <p:txBody>
          <a:bodyPr wrap="square" lIns="152400" tIns="0" rIns="0" bIns="0" rtlCol="0" anchor="t"/>
          <a:lstStyle/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步骤1 智能切点检测</a:t>
            </a:r>
            <a:endParaRPr lang="en-US" sz="1300" dirty="0"/>
          </a:p>
          <a:p>
            <a:pPr marL="228600" indent="-228600" algn="l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相邻片段首尾各 60 帧中搜索像素差最小帧对（8× 降采样），切点帧差从 ~41 降至 ~32</a:t>
            </a:r>
            <a:endParaRPr lang="en-US" sz="1200" dirty="0"/>
          </a:p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步骤2 双向 Farneback 稠密光流</a:t>
            </a:r>
            <a:endParaRPr lang="en-US" sz="1300" dirty="0"/>
          </a:p>
          <a:p>
            <a:pPr marL="228600" indent="-228600" algn="l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同时计算 A→B 和 B→A 两个方向的稠密光流场（pyr_scale=0.5, levels=5, winsize=21, iterations=5, poly_n=7, poly_sigma=1.5）</a:t>
            </a:r>
            <a:endParaRPr lang="en-US" sz="1200" dirty="0"/>
          </a:p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步骤3 前向-后向一致性掩码</a:t>
            </a:r>
            <a:endParaRPr lang="en-US" sz="1300" dirty="0"/>
          </a:p>
          <a:p>
            <a:pPr marL="228600" indent="-228600" algn="l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err = |flow_ab + flow_ba_warped|，误差 &lt; 3px 为可信区域用 Warp，其余退回纯 Alpha 混合，消除鬼影</a:t>
            </a:r>
            <a:endParaRPr lang="en-US" sz="1200" dirty="0"/>
          </a:p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步骤4 双向 Warp + 亮度归一化</a:t>
            </a:r>
            <a:endParaRPr lang="en-US" sz="1300" dirty="0"/>
          </a:p>
          <a:p>
            <a:pPr marL="228600" indent="-228600" algn="l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f_a 走 t 步，f_b 走 (1-t) 步，各走一半；f_b 亮度渐进归一化消除色调突变</a:t>
            </a:r>
            <a:endParaRPr lang="en-US" sz="1200" dirty="0"/>
          </a:p>
          <a:p>
            <a:pPr marL="0" indent="0" algn="l">
              <a:lnSpc>
                <a:spcPts val="16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步骤5 Smoothstep Alpha 混合</a:t>
            </a:r>
            <a:endParaRPr lang="en-US" sz="1300" dirty="0"/>
          </a:p>
          <a:p>
            <a:pPr marL="228600" indent="-228600" algn="l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帧过渡（~0.17s），缓入缓出曲线 t²(3-2t)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3491811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_flow_blend 核心代码解析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730000"/>
            <a:ext cx="8331398" cy="556320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70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第一步：双向 Farneback 光流</a:t>
            </a: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 xml:space="preserve">  同时估计 A→B 和 B→A 两个方向光流（pyr_scale=0.5, levels=5, winsize=21, iterations=5, poly_n=7, poly_sigma=1.5）</a:t>
            </a:r>
            <a:endParaRPr lang="en-US" sz="1200" dirty="0"/>
          </a:p>
          <a:p>
            <a:pPr marL="0" indent="0" algn="l">
              <a:lnSpc>
                <a:spcPts val="170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第二步：前向-后向一致性掩码</a:t>
            </a:r>
            <a:r>
              <a:rPr lang="en-US" sz="12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 xml:space="preserve">  误差 err = |flow_ab + flow_ba_warped| &lt; 3px 为可信；其余区域退回纯 alpha 混合</a:t>
            </a:r>
            <a:endParaRPr lang="en-US" sz="1200" dirty="0"/>
          </a:p>
          <a:p>
            <a:pPr marL="0" indent="0" algn="l">
              <a:lnSpc>
                <a:spcPts val="1700"/>
              </a:lnSpc>
              <a:spcAft>
                <a:spcPts val="300"/>
              </a:spcAft>
              <a:buSzPct val="100000"/>
              <a:buNone/>
            </a:pPr>
            <a:r>
              <a:rPr lang="en-US" sz="1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第三步：双向 Warp + 亮度归一化 + Smoothstep 混合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20000"/>
            <a:ext cx="8331398" cy="2200000"/>
          </a:xfrm>
          <a:prstGeom prst="roundRect">
            <a:avLst>
              <a:gd name="adj" fmla="val 1809"/>
            </a:avLst>
          </a:prstGeom>
          <a:solidFill>
            <a:srgbClr val="1E2A3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002" y="1490000"/>
            <a:ext cx="8000000" cy="20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flow_ab = cv2.calcOpticalFlowFarneback(ga, gb, None,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 xml:space="preserve">    pyr_scale=0.5, levels=5, winsize=21, iterations=5, poly_n=7, poly_sigma=1.5, flags=0)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flow_ba = cv2.calcOpticalFlowFarneback(gb, ga, None, ...same params...)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7EC8A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 xml:space="preserve"># consistency mask: err &lt; 3px =&gt; trust flow, else fallback to alpha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flow_ba_w = _remap(flow_ba, flow_ab)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err = np.linalg.norm(flow_ab + flow_ba_w, axis=2)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mask = (err &lt; 3.0).astype(np.float32)[:,:,None]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7EC8A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 xml:space="preserve"># bidirectional warp + brightness normalization + smoothstep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t_s = t*t*(3-2*t)  # smoothstep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wa = _remap(fa, flow_ab * t_s)   # fa forward t steps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wb = _remap(fb_norm, flow_ba * (1-t_s))  # fb backward (1-t) steps</a:t>
            </a:r>
            <a:endParaRPr lang="en-US" sz="920" dirty="0"/>
          </a:p>
          <a:p>
            <a:pPr marL="0" indent="0" algn="l">
              <a:lnSpc>
                <a:spcPts val="1300"/>
              </a:lnSpc>
              <a:spcAft>
                <a:spcPts val="60"/>
              </a:spcAft>
              <a:buNone/>
            </a:pPr>
            <a:r>
              <a:rPr lang="en-US" sz="920" dirty="0">
                <a:solidFill>
                  <a:srgbClr val="A8C5F0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blended = mask*(wa*(1-t_s)+wb*t_s) + (1-mask)*(fa*(1-t_s)+fb_norm*t_s)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901"/>
          </a:xfrm>
          <a:prstGeom prst="rect">
            <a:avLst/>
          </a:prstGeom>
          <a:solidFill>
            <a:srgbClr val="1B3A6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26950"/>
            <a:ext cx="1904238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实验结果与总结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06301" y="730000"/>
            <a:ext cx="8331398" cy="2900000"/>
          </a:xfrm>
          <a:prstGeom prst="rect">
            <a:avLst/>
          </a:prstGeom>
          <a:noFill/>
        </p:spPr>
        <p:txBody>
          <a:bodyPr wrap="square" lIns="13970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500"/>
              </a:spcAft>
              <a:buSzPct val="100000"/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测试环境：</a:t>
            </a: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段北航校园真实视频，共 533 帧，~30 fps（205/219/181 帧）</a:t>
            </a:r>
            <a:endParaRPr lang="en-US" sz="1300" dirty="0"/>
          </a:p>
          <a:p>
            <a:pPr marL="0" indent="0" algn="l">
              <a:lnSpc>
                <a:spcPts val="1800"/>
              </a:lnSpc>
              <a:spcAft>
                <a:spcPts val="300"/>
              </a:spcAft>
              <a:buSzPct val="100000"/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评估指标（真实视测）：</a:t>
            </a:r>
            <a:endParaRPr lang="en-US" sz="1300" dirty="0"/>
          </a:p>
          <a:p>
            <a:pPr marL="228600" indent="-228600" algn="l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过渡1→2：切点帧差 29.4，SSIM 0.2784</a:t>
            </a:r>
            <a:endParaRPr lang="en-US" sz="1300" dirty="0"/>
          </a:p>
          <a:p>
            <a:pPr marL="228600" indent="-228600" algn="l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过渡2→3：切点帧差 34.6，SSIM 0.3303</a:t>
            </a:r>
            <a:endParaRPr lang="en-US" sz="1300" dirty="0"/>
          </a:p>
          <a:p>
            <a:pPr marL="228600" indent="-228600" algn="l">
              <a:lnSpc>
                <a:spcPts val="18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3A6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平均：切点帧差 32.0，SSIM 0.3043</a:t>
            </a:r>
            <a:endParaRPr lang="en-US" sz="1300" dirty="0"/>
          </a:p>
          <a:p>
            <a:pPr marL="0" indent="0" algn="l">
              <a:lnSpc>
                <a:spcPts val="1800"/>
              </a:lnSpc>
              <a:spcAft>
                <a:spcPts val="300"/>
              </a:spcAft>
              <a:buSzPct val="100000"/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结论：</a:t>
            </a: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引入智能切点检测后，切点帧差从 ~41 降至 ~32（降幅 22%）；双向光流 + 一致性掩码消除鬼影，过渡更自然</a:t>
            </a:r>
            <a:endParaRPr lang="en-US" sz="1300" dirty="0"/>
          </a:p>
          <a:p>
            <a:pPr marL="0" indent="0" algn="l">
              <a:lnSpc>
                <a:spcPts val="1800"/>
              </a:lnSpc>
              <a:spcAft>
                <a:spcPts val="300"/>
              </a:spcAft>
              <a:buSzPct val="100000"/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局限性：</a:t>
            </a: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真实视频场景复杂（遮挡、大幅运动），SSIM 绝对值低于合成测试集，但视觉过渡质量显著优于直接拼接</a:t>
            </a:r>
            <a:endParaRPr lang="en-US" sz="1300" dirty="0"/>
          </a:p>
          <a:p>
            <a:pPr marL="0" indent="0" algn="l">
              <a:lnSpc>
                <a:spcPts val="1800"/>
              </a:lnSpc>
              <a:spcAft>
                <a:spcPts val="300"/>
              </a:spcAft>
              <a:buSzPct val="100000"/>
              <a:buNone/>
            </a:pPr>
            <a:r>
              <a:rPr lang="en-US" sz="13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扩展方向：</a:t>
            </a:r>
            <a:r>
              <a:rPr lang="en-US" sz="13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RAFT（深度学习光流）、DAIN（深度视频插帧网络）、EBSynth（纹理迁移）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演示</Application>
  <PresentationFormat>On-screen Show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宋体</vt:lpstr>
      <vt:lpstr>Wingdings</vt:lpstr>
      <vt:lpstr>Arial</vt:lpstr>
      <vt:lpstr>Arial</vt:lpstr>
      <vt:lpstr>Courier New</vt:lpstr>
      <vt:lpstr>Courier New</vt:lpstr>
      <vt:lpstr>Courier New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视频合成算法——北航校园视频光流融合</dc:title>
  <dc:creator>PptxGenJS</dc:creator>
  <dc:subject>PptxGenJS Presentation</dc:subject>
  <cp:lastModifiedBy>saizhuolin</cp:lastModifiedBy>
  <cp:revision>6</cp:revision>
  <dcterms:created xsi:type="dcterms:W3CDTF">2026-03-26T03:42:02Z</dcterms:created>
  <dcterms:modified xsi:type="dcterms:W3CDTF">2026-03-26T03:42:02Z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FB4858A6E7D91D386EA8C46932BD4514_42</vt:lpwstr>
  </property>
  <property fmtid="{D5CDD505-2E9C-101B-9397-08002B2CF9AE}" pid="3" name="KSOProductBuildVer">
    <vt:lpwstr>2052-7.2.2.8955</vt:lpwstr>
  </property>
</Properties>
</file>